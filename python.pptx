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18"/>
  </p:notesMasterIdLst>
  <p:handoutMasterIdLst>
    <p:handoutMasterId r:id="rId19"/>
  </p:handoutMasterIdLst>
  <p:sldIdLst>
    <p:sldId id="529" r:id="rId3"/>
    <p:sldId id="495" r:id="rId4"/>
    <p:sldId id="514" r:id="rId5"/>
    <p:sldId id="497" r:id="rId6"/>
    <p:sldId id="515" r:id="rId7"/>
    <p:sldId id="516" r:id="rId8"/>
    <p:sldId id="517" r:id="rId9"/>
    <p:sldId id="536" r:id="rId10"/>
    <p:sldId id="520" r:id="rId11"/>
    <p:sldId id="535" r:id="rId12"/>
    <p:sldId id="531" r:id="rId13"/>
    <p:sldId id="534" r:id="rId14"/>
    <p:sldId id="537" r:id="rId15"/>
    <p:sldId id="533" r:id="rId16"/>
    <p:sldId id="528" r:id="rId17"/>
  </p:sldIdLst>
  <p:sldSz cx="9144000" cy="5143500" type="screen16x9"/>
  <p:notesSz cx="6797675" cy="992632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FF"/>
    <a:srgbClr val="A9ACEF"/>
    <a:srgbClr val="0000CC"/>
    <a:srgbClr val="A50021"/>
    <a:srgbClr val="6633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30" autoAdjust="0"/>
    <p:restoredTop sz="87621" autoAdjust="0"/>
  </p:normalViewPr>
  <p:slideViewPr>
    <p:cSldViewPr showGuides="1">
      <p:cViewPr>
        <p:scale>
          <a:sx n="75" d="100"/>
          <a:sy n="75" d="100"/>
        </p:scale>
        <p:origin x="1550" y="317"/>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lstStyle>
          <a:p>
            <a:pPr>
              <a:defRPr/>
            </a:pPr>
            <a:endParaRPr lang="en-US"/>
          </a:p>
        </p:txBody>
      </p:sp>
      <p:sp>
        <p:nvSpPr>
          <p:cNvPr id="3" name="Date Placeholder 2"/>
          <p:cNvSpPr>
            <a:spLocks noGrp="1"/>
          </p:cNvSpPr>
          <p:nvPr>
            <p:ph type="dt" sz="quarter"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lstStyle>
          <a:p>
            <a:pPr>
              <a:defRPr/>
            </a:pPr>
            <a:fld id="{14FDCBBC-8C6D-4B91-8E0F-7F7539A60517}" type="datetimeFigureOut">
              <a:rPr lang="en-US"/>
            </a:fld>
            <a:endParaRPr lang="en-US" dirty="0"/>
          </a:p>
        </p:txBody>
      </p:sp>
      <p:sp>
        <p:nvSpPr>
          <p:cNvPr id="4" name="Footer Placeholder 3"/>
          <p:cNvSpPr>
            <a:spLocks noGrp="1"/>
          </p:cNvSpPr>
          <p:nvPr>
            <p:ph type="ftr" sz="quarter" idx="2"/>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849688" y="9429750"/>
            <a:ext cx="2946400" cy="495300"/>
          </a:xfrm>
          <a:prstGeom prst="rect">
            <a:avLst/>
          </a:prstGeom>
        </p:spPr>
        <p:txBody>
          <a:bodyPr vert="horz" wrap="square" lIns="95571" tIns="47786" rIns="95571" bIns="47786" numCol="1" anchor="b" anchorCtr="0" compatLnSpc="1"/>
          <a:lstStyle>
            <a:lvl1pPr algn="r" eaLnBrk="1" hangingPunct="1">
              <a:defRPr sz="1300" smtClean="0">
                <a:latin typeface="Calibri" panose="020F0502020204030204" pitchFamily="34" charset="0"/>
              </a:defRPr>
            </a:lvl1pPr>
          </a:lstStyle>
          <a:p>
            <a:pPr>
              <a:defRPr/>
            </a:pPr>
            <a:fld id="{2952E2ED-3A02-491C-A9B8-DFEE216EB3A7}" type="slidenum">
              <a:rPr lang="en-US" altLang="en-US"/>
            </a:fld>
            <a:endParaRPr lang="en-US"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lstStyle>
          <a:p>
            <a:pPr>
              <a:defRPr/>
            </a:pPr>
            <a:endParaRPr lang="en-US"/>
          </a:p>
        </p:txBody>
      </p:sp>
      <p:sp>
        <p:nvSpPr>
          <p:cNvPr id="3" name="Date Placeholder 2"/>
          <p:cNvSpPr>
            <a:spLocks noGrp="1"/>
          </p:cNvSpPr>
          <p:nvPr>
            <p:ph type="dt"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lstStyle>
          <a:p>
            <a:pPr>
              <a:defRPr/>
            </a:pPr>
            <a:fld id="{061F6FC2-9645-479A-A309-27B8F5654211}" type="datetimeFigureOut">
              <a:rPr lang="en-US"/>
            </a:fld>
            <a:endParaRPr lang="en-US" dirty="0"/>
          </a:p>
        </p:txBody>
      </p:sp>
      <p:sp>
        <p:nvSpPr>
          <p:cNvPr id="4" name="Slide Image Placeholder 3"/>
          <p:cNvSpPr>
            <a:spLocks noGrp="1" noRot="1" noChangeAspect="1"/>
          </p:cNvSpPr>
          <p:nvPr>
            <p:ph type="sldImg" idx="2"/>
          </p:nvPr>
        </p:nvSpPr>
        <p:spPr>
          <a:xfrm>
            <a:off x="92075" y="746125"/>
            <a:ext cx="6613525" cy="3721100"/>
          </a:xfrm>
          <a:prstGeom prst="rect">
            <a:avLst/>
          </a:prstGeom>
          <a:noFill/>
          <a:ln w="12700">
            <a:solidFill>
              <a:prstClr val="black"/>
            </a:solidFill>
          </a:ln>
        </p:spPr>
        <p:txBody>
          <a:bodyPr vert="horz" lIns="95571" tIns="47786" rIns="95571" bIns="47786" rtlCol="0" anchor="ctr"/>
          <a:lstStyle/>
          <a:p>
            <a:pPr lvl="0"/>
            <a:endParaRPr lang="en-US" noProof="0" dirty="0"/>
          </a:p>
        </p:txBody>
      </p:sp>
      <p:sp>
        <p:nvSpPr>
          <p:cNvPr id="5" name="Notes Placeholder 4"/>
          <p:cNvSpPr>
            <a:spLocks noGrp="1"/>
          </p:cNvSpPr>
          <p:nvPr>
            <p:ph type="body" sz="quarter" idx="3"/>
          </p:nvPr>
        </p:nvSpPr>
        <p:spPr>
          <a:xfrm>
            <a:off x="679450" y="4714875"/>
            <a:ext cx="5438775" cy="4465638"/>
          </a:xfrm>
          <a:prstGeom prst="rect">
            <a:avLst/>
          </a:prstGeom>
        </p:spPr>
        <p:txBody>
          <a:bodyPr vert="horz" lIns="95571" tIns="47786" rIns="95571" bIns="47786" rtlCol="0">
            <a:normAutofit/>
          </a:body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49688" y="9429750"/>
            <a:ext cx="2946400" cy="495300"/>
          </a:xfrm>
          <a:prstGeom prst="rect">
            <a:avLst/>
          </a:prstGeom>
        </p:spPr>
        <p:txBody>
          <a:bodyPr vert="horz" wrap="square" lIns="95571" tIns="47786" rIns="95571" bIns="47786" numCol="1" anchor="b" anchorCtr="0" compatLnSpc="1"/>
          <a:lstStyle>
            <a:lvl1pPr algn="r" eaLnBrk="1" hangingPunct="1">
              <a:defRPr sz="1300" smtClean="0">
                <a:latin typeface="Calibri" panose="020F0502020204030204" pitchFamily="34" charset="0"/>
              </a:defRPr>
            </a:lvl1pPr>
          </a:lstStyle>
          <a:p>
            <a:pPr>
              <a:defRPr/>
            </a:pPr>
            <a:fld id="{F2D8CC3F-ADB2-4AF7-880C-111F7E6C7FE6}" type="slidenum">
              <a:rPr lang="en-US" altLang="en-US"/>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2914650"/>
            <a:ext cx="6858000" cy="742950"/>
          </a:xfrm>
        </p:spPr>
        <p:txBody>
          <a:bodyPr anchor="t" anchorCtr="0"/>
          <a:lstStyle>
            <a:lvl1pPr algn="r">
              <a:defRPr sz="3200">
                <a:solidFill>
                  <a:schemeClr val="tx1"/>
                </a:solidFill>
              </a:defRPr>
            </a:lvl1pPr>
          </a:lstStyle>
          <a:p>
            <a:r>
              <a:rPr kumimoji="0" lang="en-US"/>
              <a:t>Click to edit Master title style</a:t>
            </a:r>
            <a:endParaRPr kumimoji="0" lang="en-US"/>
          </a:p>
        </p:txBody>
      </p:sp>
      <p:sp>
        <p:nvSpPr>
          <p:cNvPr id="9" name="Subtitle 8"/>
          <p:cNvSpPr>
            <a:spLocks noGrp="1"/>
          </p:cNvSpPr>
          <p:nvPr>
            <p:ph type="subTitle" idx="1"/>
          </p:nvPr>
        </p:nvSpPr>
        <p:spPr>
          <a:xfrm>
            <a:off x="1219200" y="3843338"/>
            <a:ext cx="6858000" cy="40005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28" name="Date Placeholder 27"/>
          <p:cNvSpPr>
            <a:spLocks noGrp="1"/>
          </p:cNvSpPr>
          <p:nvPr>
            <p:ph type="dt" sz="half" idx="10"/>
          </p:nvPr>
        </p:nvSpPr>
        <p:spPr>
          <a:xfrm>
            <a:off x="6400800" y="4766310"/>
            <a:ext cx="2286000" cy="274320"/>
          </a:xfrm>
        </p:spPr>
        <p:txBody>
          <a:bodyPr/>
          <a:lstStyle>
            <a:lvl1pPr>
              <a:defRPr sz="1400"/>
            </a:lvl1pPr>
          </a:lstStyle>
          <a:p>
            <a:pPr>
              <a:defRPr/>
            </a:pPr>
            <a:fld id="{5DB7D52D-565F-41B8-8A38-351E75B6160A}" type="datetime3">
              <a:rPr lang="en-US" smtClean="0"/>
            </a:fld>
            <a:endParaRPr lang="en-US" dirty="0"/>
          </a:p>
        </p:txBody>
      </p:sp>
      <p:sp>
        <p:nvSpPr>
          <p:cNvPr id="17" name="Footer Placeholder 16"/>
          <p:cNvSpPr>
            <a:spLocks noGrp="1"/>
          </p:cNvSpPr>
          <p:nvPr>
            <p:ph type="ftr" sz="quarter" idx="11"/>
          </p:nvPr>
        </p:nvSpPr>
        <p:spPr>
          <a:xfrm>
            <a:off x="2898648" y="4766310"/>
            <a:ext cx="3474720" cy="274320"/>
          </a:xfrm>
        </p:spPr>
        <p:txBody>
          <a:bodyPr/>
          <a:lstStyle/>
          <a:p>
            <a:pPr>
              <a:defRPr/>
            </a:pPr>
            <a:r>
              <a:rPr lang="en-US"/>
              <a:t>CGB1121 – PYTHON PROGRAMMING –PROJECT REVIEW 1</a:t>
            </a:r>
            <a:endParaRPr lang="en-US" dirty="0"/>
          </a:p>
        </p:txBody>
      </p:sp>
      <p:sp>
        <p:nvSpPr>
          <p:cNvPr id="29" name="Slide Number Placeholder 28"/>
          <p:cNvSpPr>
            <a:spLocks noGrp="1"/>
          </p:cNvSpPr>
          <p:nvPr>
            <p:ph type="sldNum" sz="quarter" idx="12"/>
          </p:nvPr>
        </p:nvSpPr>
        <p:spPr>
          <a:xfrm>
            <a:off x="1216152" y="4766310"/>
            <a:ext cx="1219200" cy="274320"/>
          </a:xfrm>
        </p:spPr>
        <p:txBody>
          <a:bodyPr/>
          <a:lstStyle/>
          <a:p>
            <a:pPr>
              <a:defRPr/>
            </a:pPr>
            <a:fld id="{C0A8E10E-36D1-42AB-939C-34BEB33CD9E4}" type="slidenum">
              <a:rPr lang="en-US" altLang="en-US" smtClean="0"/>
            </a:fld>
            <a:endParaRPr lang="en-US" altLang="en-US"/>
          </a:p>
        </p:txBody>
      </p:sp>
      <p:sp>
        <p:nvSpPr>
          <p:cNvPr id="21" name="Rectangle 20"/>
          <p:cNvSpPr/>
          <p:nvPr/>
        </p:nvSpPr>
        <p:spPr>
          <a:xfrm>
            <a:off x="904875" y="2736056"/>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3786188"/>
            <a:ext cx="7315200" cy="51435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2736056"/>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3786188"/>
            <a:ext cx="228600" cy="51435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4" name="Date Placeholder 3"/>
          <p:cNvSpPr>
            <a:spLocks noGrp="1"/>
          </p:cNvSpPr>
          <p:nvPr>
            <p:ph type="dt" sz="half" idx="10"/>
          </p:nvPr>
        </p:nvSpPr>
        <p:spPr/>
        <p:txBody>
          <a:bodyPr/>
          <a:lstStyle/>
          <a:p>
            <a:pPr>
              <a:defRPr/>
            </a:pPr>
            <a:fld id="{10D64E2F-69CC-44E6-A292-0ACA122D21DC}" type="datetime3">
              <a:rPr lang="en-US" smtClean="0"/>
            </a:fld>
            <a:endParaRPr lang="en-US" dirty="0"/>
          </a:p>
        </p:txBody>
      </p:sp>
      <p:sp>
        <p:nvSpPr>
          <p:cNvPr id="5" name="Footer Placeholder 4"/>
          <p:cNvSpPr>
            <a:spLocks noGrp="1"/>
          </p:cNvSpPr>
          <p:nvPr>
            <p:ph type="ftr" sz="quarter" idx="11"/>
          </p:nvPr>
        </p:nvSpPr>
        <p:spPr/>
        <p:txBody>
          <a:bodyPr/>
          <a:lstStyle/>
          <a:p>
            <a:pPr>
              <a:defRPr/>
            </a:pPr>
            <a:r>
              <a:rPr lang="en-US"/>
              <a:t>CGB1121 – PYTHON PROGRAMMING –PROJECT REVIEW 1</a:t>
            </a:r>
            <a:endParaRPr lang="en-US" dirty="0"/>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fld>
            <a:endParaRPr lang="en-US" altLang="en-US"/>
          </a:p>
        </p:txBody>
      </p:sp>
      <p:sp>
        <p:nvSpPr>
          <p:cNvPr id="8" name="Content Placeholder 7"/>
          <p:cNvSpPr>
            <a:spLocks noGrp="1"/>
          </p:cNvSpPr>
          <p:nvPr>
            <p:ph sz="quarter" idx="1"/>
          </p:nvPr>
        </p:nvSpPr>
        <p:spPr>
          <a:xfrm>
            <a:off x="457200" y="914400"/>
            <a:ext cx="8229600" cy="370332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228850"/>
            <a:ext cx="6858000" cy="800100"/>
          </a:xfrm>
        </p:spPr>
        <p:txBody>
          <a:bodyPr anchor="t" anchorCtr="0"/>
          <a:lstStyle>
            <a:lvl1pPr algn="r">
              <a:buNone/>
              <a:defRPr sz="3200" b="0" cap="none" baseline="0"/>
            </a:lvl1pPr>
          </a:lstStyle>
          <a:p>
            <a:r>
              <a:rPr kumimoji="0" lang="en-US"/>
              <a:t>Click to edit Master title style</a:t>
            </a:r>
            <a:endParaRPr kumimoji="0" lang="en-US"/>
          </a:p>
        </p:txBody>
      </p:sp>
      <p:sp>
        <p:nvSpPr>
          <p:cNvPr id="3" name="Text Placeholder 2"/>
          <p:cNvSpPr>
            <a:spLocks noGrp="1"/>
          </p:cNvSpPr>
          <p:nvPr>
            <p:ph type="body" idx="1"/>
          </p:nvPr>
        </p:nvSpPr>
        <p:spPr>
          <a:xfrm>
            <a:off x="1295400" y="3200400"/>
            <a:ext cx="6781800" cy="85725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4" name="Date Placeholder 3"/>
          <p:cNvSpPr>
            <a:spLocks noGrp="1"/>
          </p:cNvSpPr>
          <p:nvPr>
            <p:ph type="dt" sz="half" idx="10"/>
          </p:nvPr>
        </p:nvSpPr>
        <p:spPr>
          <a:xfrm>
            <a:off x="6400800" y="4766310"/>
            <a:ext cx="2286000" cy="274320"/>
          </a:xfrm>
        </p:spPr>
        <p:txBody>
          <a:bodyPr/>
          <a:lstStyle/>
          <a:p>
            <a:pPr>
              <a:defRPr/>
            </a:pPr>
            <a:fld id="{66706815-C846-4605-9618-3F6E6CA90352}" type="datetime3">
              <a:rPr lang="en-US" smtClean="0"/>
            </a:fld>
            <a:endParaRPr lang="en-US" dirty="0"/>
          </a:p>
        </p:txBody>
      </p:sp>
      <p:sp>
        <p:nvSpPr>
          <p:cNvPr id="5" name="Footer Placeholder 4"/>
          <p:cNvSpPr>
            <a:spLocks noGrp="1"/>
          </p:cNvSpPr>
          <p:nvPr>
            <p:ph type="ftr" sz="quarter" idx="11"/>
          </p:nvPr>
        </p:nvSpPr>
        <p:spPr>
          <a:xfrm>
            <a:off x="2898648" y="4766310"/>
            <a:ext cx="3474720" cy="274320"/>
          </a:xfrm>
        </p:spPr>
        <p:txBody>
          <a:bodyPr/>
          <a:lstStyle/>
          <a:p>
            <a:pPr>
              <a:defRPr/>
            </a:pPr>
            <a:r>
              <a:rPr lang="en-US"/>
              <a:t>CGB1121 – PYTHON PROGRAMMING –PROJECT REVIEW 1</a:t>
            </a:r>
            <a:endParaRPr lang="en-US" dirty="0"/>
          </a:p>
        </p:txBody>
      </p:sp>
      <p:sp>
        <p:nvSpPr>
          <p:cNvPr id="6" name="Slide Number Placeholder 5"/>
          <p:cNvSpPr>
            <a:spLocks noGrp="1"/>
          </p:cNvSpPr>
          <p:nvPr>
            <p:ph type="sldNum" sz="quarter" idx="12"/>
          </p:nvPr>
        </p:nvSpPr>
        <p:spPr>
          <a:xfrm>
            <a:off x="1069848" y="4766310"/>
            <a:ext cx="1520952" cy="274320"/>
          </a:xfrm>
        </p:spPr>
        <p:txBody>
          <a:bodyPr/>
          <a:lstStyle/>
          <a:p>
            <a:pPr>
              <a:defRPr/>
            </a:pPr>
            <a:fld id="{BEE0AD74-942B-45F6-8EEE-203197083F56}" type="slidenum">
              <a:rPr lang="en-US" altLang="en-US" smtClean="0"/>
            </a:fld>
            <a:endParaRPr lang="en-US" altLang="en-US"/>
          </a:p>
        </p:txBody>
      </p:sp>
      <p:sp>
        <p:nvSpPr>
          <p:cNvPr id="7" name="Rectangle 6"/>
          <p:cNvSpPr/>
          <p:nvPr/>
        </p:nvSpPr>
        <p:spPr>
          <a:xfrm>
            <a:off x="914400" y="2114550"/>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114550"/>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lstStyle/>
          <a:p>
            <a:r>
              <a:rPr kumimoji="0" lang="en-US"/>
              <a:t>Click to edit Master title style</a:t>
            </a:r>
            <a:endParaRPr kumimoji="0" lang="en-US"/>
          </a:p>
        </p:txBody>
      </p:sp>
      <p:sp>
        <p:nvSpPr>
          <p:cNvPr id="5" name="Date Placeholder 4"/>
          <p:cNvSpPr>
            <a:spLocks noGrp="1"/>
          </p:cNvSpPr>
          <p:nvPr>
            <p:ph type="dt" sz="half" idx="10"/>
          </p:nvPr>
        </p:nvSpPr>
        <p:spPr/>
        <p:txBody>
          <a:bodyPr/>
          <a:lstStyle/>
          <a:p>
            <a:pPr>
              <a:defRPr/>
            </a:pPr>
            <a:fld id="{21AAA5BA-07A5-4870-B550-A63AA413A813}" type="datetime3">
              <a:rPr lang="en-US" smtClean="0"/>
            </a:fld>
            <a:endParaRPr lang="en-US" dirty="0"/>
          </a:p>
        </p:txBody>
      </p:sp>
      <p:sp>
        <p:nvSpPr>
          <p:cNvPr id="6" name="Footer Placeholder 5"/>
          <p:cNvSpPr>
            <a:spLocks noGrp="1"/>
          </p:cNvSpPr>
          <p:nvPr>
            <p:ph type="ftr" sz="quarter" idx="11"/>
          </p:nvPr>
        </p:nvSpPr>
        <p:spPr/>
        <p:txBody>
          <a:bodyPr/>
          <a:lstStyle/>
          <a:p>
            <a:pPr>
              <a:defRPr/>
            </a:pPr>
            <a:r>
              <a:rPr lang="en-US"/>
              <a:t>CGB1121 – PYTHON PROGRAMMING –PROJECT REVIEW 1</a:t>
            </a:r>
            <a:endParaRPr lang="en-US" dirty="0"/>
          </a:p>
        </p:txBody>
      </p:sp>
      <p:sp>
        <p:nvSpPr>
          <p:cNvPr id="7" name="Slide Number Placeholder 6"/>
          <p:cNvSpPr>
            <a:spLocks noGrp="1"/>
          </p:cNvSpPr>
          <p:nvPr>
            <p:ph type="sldNum" sz="quarter" idx="12"/>
          </p:nvPr>
        </p:nvSpPr>
        <p:spPr/>
        <p:txBody>
          <a:bodyPr/>
          <a:lstStyle/>
          <a:p>
            <a:pPr>
              <a:defRPr/>
            </a:pPr>
            <a:fld id="{DB554FDC-F986-4516-81A3-5CBC9634E9C1}" type="slidenum">
              <a:rPr lang="en-US" altLang="en-US" smtClean="0"/>
            </a:fld>
            <a:endParaRPr lang="en-US" altLang="en-US"/>
          </a:p>
        </p:txBody>
      </p:sp>
      <p:sp>
        <p:nvSpPr>
          <p:cNvPr id="9" name="Content Placeholder 8"/>
          <p:cNvSpPr>
            <a:spLocks noGrp="1"/>
          </p:cNvSpPr>
          <p:nvPr>
            <p:ph sz="quarter" idx="1"/>
          </p:nvPr>
        </p:nvSpPr>
        <p:spPr>
          <a:xfrm>
            <a:off x="457200" y="914400"/>
            <a:ext cx="4041648" cy="370332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912114"/>
            <a:ext cx="4041648" cy="370332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nchor="ctr"/>
          <a:lstStyle>
            <a:lvl1pPr>
              <a:defRPr/>
            </a:lvl1pPr>
          </a:lstStyle>
          <a:p>
            <a:r>
              <a:rPr kumimoji="0" lang="en-US"/>
              <a:t>Click to edit Master title style</a:t>
            </a:r>
            <a:endParaRPr kumimoji="0" lang="en-US"/>
          </a:p>
        </p:txBody>
      </p:sp>
      <p:sp>
        <p:nvSpPr>
          <p:cNvPr id="3" name="Text Placeholder 2"/>
          <p:cNvSpPr>
            <a:spLocks noGrp="1"/>
          </p:cNvSpPr>
          <p:nvPr>
            <p:ph type="body" idx="1"/>
          </p:nvPr>
        </p:nvSpPr>
        <p:spPr>
          <a:xfrm>
            <a:off x="457200" y="964406"/>
            <a:ext cx="4040188" cy="51435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4" name="Text Placeholder 3"/>
          <p:cNvSpPr>
            <a:spLocks noGrp="1"/>
          </p:cNvSpPr>
          <p:nvPr>
            <p:ph type="body" sz="half" idx="3"/>
          </p:nvPr>
        </p:nvSpPr>
        <p:spPr>
          <a:xfrm>
            <a:off x="4648201" y="971550"/>
            <a:ext cx="4041775" cy="51435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7" name="Date Placeholder 6"/>
          <p:cNvSpPr>
            <a:spLocks noGrp="1"/>
          </p:cNvSpPr>
          <p:nvPr>
            <p:ph type="dt" sz="half" idx="10"/>
          </p:nvPr>
        </p:nvSpPr>
        <p:spPr/>
        <p:txBody>
          <a:bodyPr/>
          <a:lstStyle/>
          <a:p>
            <a:pPr>
              <a:defRPr/>
            </a:pPr>
            <a:fld id="{C56CBCAE-4922-43E5-A623-0BF880173A60}" type="datetime3">
              <a:rPr lang="en-US" smtClean="0"/>
            </a:fld>
            <a:endParaRPr lang="en-US" dirty="0"/>
          </a:p>
        </p:txBody>
      </p:sp>
      <p:sp>
        <p:nvSpPr>
          <p:cNvPr id="8" name="Footer Placeholder 7"/>
          <p:cNvSpPr>
            <a:spLocks noGrp="1"/>
          </p:cNvSpPr>
          <p:nvPr>
            <p:ph type="ftr" sz="quarter" idx="11"/>
          </p:nvPr>
        </p:nvSpPr>
        <p:spPr/>
        <p:txBody>
          <a:bodyPr/>
          <a:lstStyle/>
          <a:p>
            <a:pPr>
              <a:defRPr/>
            </a:pPr>
            <a:r>
              <a:rPr lang="en-US"/>
              <a:t>CGB1121 – PYTHON PROGRAMMING –PROJECT REVIEW 1</a:t>
            </a:r>
            <a:endParaRPr lang="en-US" dirty="0"/>
          </a:p>
        </p:txBody>
      </p:sp>
      <p:sp>
        <p:nvSpPr>
          <p:cNvPr id="9" name="Slide Number Placeholder 8"/>
          <p:cNvSpPr>
            <a:spLocks noGrp="1"/>
          </p:cNvSpPr>
          <p:nvPr>
            <p:ph type="sldNum" sz="quarter" idx="12"/>
          </p:nvPr>
        </p:nvSpPr>
        <p:spPr/>
        <p:txBody>
          <a:bodyPr/>
          <a:lstStyle/>
          <a:p>
            <a:pPr>
              <a:defRPr/>
            </a:pPr>
            <a:fld id="{02A63921-D0A8-45BD-ADF0-24CC5F135FEC}" type="slidenum">
              <a:rPr lang="en-US" altLang="en-US" smtClean="0"/>
            </a:fld>
            <a:endParaRPr lang="en-US" altLang="en-US"/>
          </a:p>
        </p:txBody>
      </p:sp>
      <p:sp>
        <p:nvSpPr>
          <p:cNvPr id="11" name="Content Placeholder 10"/>
          <p:cNvSpPr>
            <a:spLocks noGrp="1"/>
          </p:cNvSpPr>
          <p:nvPr>
            <p:ph sz="quarter" idx="2"/>
          </p:nvPr>
        </p:nvSpPr>
        <p:spPr>
          <a:xfrm>
            <a:off x="457200" y="1600200"/>
            <a:ext cx="4038600" cy="302895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1600200"/>
            <a:ext cx="4038600" cy="302895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lstStyle/>
          <a:p>
            <a:r>
              <a:rPr kumimoji="0" lang="en-US"/>
              <a:t>Click to edit Master title style</a:t>
            </a:r>
            <a:endParaRPr kumimoji="0" lang="en-US"/>
          </a:p>
        </p:txBody>
      </p:sp>
      <p:sp>
        <p:nvSpPr>
          <p:cNvPr id="3" name="Date Placeholder 2"/>
          <p:cNvSpPr>
            <a:spLocks noGrp="1"/>
          </p:cNvSpPr>
          <p:nvPr>
            <p:ph type="dt" sz="half" idx="10"/>
          </p:nvPr>
        </p:nvSpPr>
        <p:spPr/>
        <p:txBody>
          <a:bodyPr/>
          <a:lstStyle/>
          <a:p>
            <a:pPr>
              <a:defRPr/>
            </a:pPr>
            <a:fld id="{04A49A9B-770B-4D1D-BEA9-C1C4C9A5A662}" type="datetime3">
              <a:rPr lang="en-US" smtClean="0"/>
            </a:fld>
            <a:endParaRPr lang="en-US" dirty="0"/>
          </a:p>
        </p:txBody>
      </p:sp>
      <p:sp>
        <p:nvSpPr>
          <p:cNvPr id="4" name="Footer Placeholder 3"/>
          <p:cNvSpPr>
            <a:spLocks noGrp="1"/>
          </p:cNvSpPr>
          <p:nvPr>
            <p:ph type="ftr" sz="quarter" idx="11"/>
          </p:nvPr>
        </p:nvSpPr>
        <p:spPr/>
        <p:txBody>
          <a:bodyPr/>
          <a:lstStyle/>
          <a:p>
            <a:pPr>
              <a:defRPr/>
            </a:pPr>
            <a:r>
              <a:rPr lang="en-US"/>
              <a:t>CGB1121 – PYTHON PROGRAMMING –PROJECT REVIEW 1</a:t>
            </a:r>
            <a:endParaRPr lang="en-US" dirty="0"/>
          </a:p>
        </p:txBody>
      </p:sp>
      <p:sp>
        <p:nvSpPr>
          <p:cNvPr id="5" name="Slide Number Placeholder 4"/>
          <p:cNvSpPr>
            <a:spLocks noGrp="1"/>
          </p:cNvSpPr>
          <p:nvPr>
            <p:ph type="sldNum" sz="quarter" idx="12"/>
          </p:nvPr>
        </p:nvSpPr>
        <p:spPr/>
        <p:txBody>
          <a:bodyPr/>
          <a:lstStyle/>
          <a:p>
            <a:pPr>
              <a:defRPr/>
            </a:pPr>
            <a:fld id="{4CE540F1-D866-4735-9E65-A1952EADD02D}" type="slidenum">
              <a:rPr lang="en-US" altLang="en-US" smtClean="0"/>
            </a:fld>
            <a:endParaRPr lang="en-US" altLang="en-US"/>
          </a:p>
        </p:txBody>
      </p:sp>
      <p:sp>
        <p:nvSpPr>
          <p:cNvPr id="6"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7B70C381-8234-4493-A0B4-F2FD96F1DB14}" type="datetime3">
              <a:rPr lang="en-US" smtClean="0"/>
            </a:fld>
            <a:endParaRPr lang="en-US" dirty="0"/>
          </a:p>
        </p:txBody>
      </p:sp>
      <p:sp>
        <p:nvSpPr>
          <p:cNvPr id="3" name="Footer Placeholder 2"/>
          <p:cNvSpPr>
            <a:spLocks noGrp="1"/>
          </p:cNvSpPr>
          <p:nvPr>
            <p:ph type="ftr" sz="quarter" idx="11"/>
          </p:nvPr>
        </p:nvSpPr>
        <p:spPr/>
        <p:txBody>
          <a:bodyPr/>
          <a:lstStyle/>
          <a:p>
            <a:pPr>
              <a:defRPr/>
            </a:pPr>
            <a:r>
              <a:rPr lang="en-US"/>
              <a:t>CGB1121 – PYTHON PROGRAMMING –PROJECT REVIEW 1</a:t>
            </a:r>
            <a:endParaRPr lang="en-US" dirty="0"/>
          </a:p>
        </p:txBody>
      </p:sp>
      <p:sp>
        <p:nvSpPr>
          <p:cNvPr id="4" name="Slide Number Placeholder 3"/>
          <p:cNvSpPr>
            <a:spLocks noGrp="1"/>
          </p:cNvSpPr>
          <p:nvPr>
            <p:ph type="sldNum" sz="quarter" idx="12"/>
          </p:nvPr>
        </p:nvSpPr>
        <p:spPr/>
        <p:txBody>
          <a:bodyPr/>
          <a:lstStyle/>
          <a:p>
            <a:pPr>
              <a:defRPr/>
            </a:pPr>
            <a:fld id="{2571F5BB-190B-45BA-B754-2541F8CA6F46}" type="slidenum">
              <a:rPr lang="en-US" altLang="en-US" smtClean="0"/>
            </a:fld>
            <a:endParaRPr lang="en-US" altLang="en-US"/>
          </a:p>
        </p:txBody>
      </p:sp>
      <p:sp>
        <p:nvSpPr>
          <p:cNvPr id="5" name="Straight Connector 4"/>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228600"/>
            <a:ext cx="2514600" cy="62865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endParaRPr kumimoji="0" lang="en-US"/>
          </a:p>
        </p:txBody>
      </p:sp>
      <p:sp>
        <p:nvSpPr>
          <p:cNvPr id="3" name="Text Placeholder 2"/>
          <p:cNvSpPr>
            <a:spLocks noGrp="1"/>
          </p:cNvSpPr>
          <p:nvPr>
            <p:ph type="body" idx="2"/>
          </p:nvPr>
        </p:nvSpPr>
        <p:spPr>
          <a:xfrm>
            <a:off x="6324600" y="914401"/>
            <a:ext cx="2514600" cy="3632597"/>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5" name="Date Placeholder 4"/>
          <p:cNvSpPr>
            <a:spLocks noGrp="1"/>
          </p:cNvSpPr>
          <p:nvPr>
            <p:ph type="dt" sz="half" idx="10"/>
          </p:nvPr>
        </p:nvSpPr>
        <p:spPr/>
        <p:txBody>
          <a:bodyPr/>
          <a:lstStyle/>
          <a:p>
            <a:pPr>
              <a:defRPr/>
            </a:pPr>
            <a:fld id="{EC218892-8D6F-4935-9522-D7F3839DE182}" type="datetime3">
              <a:rPr lang="en-US" smtClean="0"/>
            </a:fld>
            <a:endParaRPr lang="en-US" dirty="0"/>
          </a:p>
        </p:txBody>
      </p:sp>
      <p:sp>
        <p:nvSpPr>
          <p:cNvPr id="6" name="Footer Placeholder 5"/>
          <p:cNvSpPr>
            <a:spLocks noGrp="1"/>
          </p:cNvSpPr>
          <p:nvPr>
            <p:ph type="ftr" sz="quarter" idx="11"/>
          </p:nvPr>
        </p:nvSpPr>
        <p:spPr/>
        <p:txBody>
          <a:bodyPr/>
          <a:lstStyle/>
          <a:p>
            <a:pPr>
              <a:defRPr/>
            </a:pPr>
            <a:r>
              <a:rPr lang="en-US"/>
              <a:t>CGB1121 – PYTHON PROGRAMMING –PROJECT REVIEW 1</a:t>
            </a:r>
            <a:endParaRPr lang="en-US" dirty="0"/>
          </a:p>
        </p:txBody>
      </p:sp>
      <p:sp>
        <p:nvSpPr>
          <p:cNvPr id="7" name="Slide Number Placeholder 6"/>
          <p:cNvSpPr>
            <a:spLocks noGrp="1"/>
          </p:cNvSpPr>
          <p:nvPr>
            <p:ph type="sldNum" sz="quarter" idx="12"/>
          </p:nvPr>
        </p:nvSpPr>
        <p:spPr/>
        <p:txBody>
          <a:bodyPr/>
          <a:lstStyle/>
          <a:p>
            <a:pPr>
              <a:defRPr/>
            </a:pPr>
            <a:fld id="{4B3D1EAA-7E8D-49EA-BCBB-3C5BA424400D}" type="slidenum">
              <a:rPr lang="en-US" altLang="en-US" smtClean="0"/>
            </a:fld>
            <a:endParaRPr lang="en-US" altLang="en-US"/>
          </a:p>
        </p:txBody>
      </p:sp>
      <p:sp>
        <p:nvSpPr>
          <p:cNvPr id="8"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915025" y="2493169"/>
            <a:ext cx="452628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228600"/>
            <a:ext cx="5715000" cy="428625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375642"/>
            <a:ext cx="8229600" cy="506016"/>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endParaRPr kumimoji="0" lang="en-US"/>
          </a:p>
        </p:txBody>
      </p:sp>
      <p:sp>
        <p:nvSpPr>
          <p:cNvPr id="3" name="Picture Placeholder 2"/>
          <p:cNvSpPr>
            <a:spLocks noGrp="1"/>
          </p:cNvSpPr>
          <p:nvPr>
            <p:ph type="pic" idx="1"/>
          </p:nvPr>
        </p:nvSpPr>
        <p:spPr>
          <a:xfrm>
            <a:off x="457200" y="1428750"/>
            <a:ext cx="8229600" cy="3202686"/>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914400"/>
            <a:ext cx="8229600" cy="40005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endParaRPr kumimoji="0" lang="en-US"/>
          </a:p>
        </p:txBody>
      </p:sp>
      <p:sp>
        <p:nvSpPr>
          <p:cNvPr id="5" name="Date Placeholder 4"/>
          <p:cNvSpPr>
            <a:spLocks noGrp="1"/>
          </p:cNvSpPr>
          <p:nvPr>
            <p:ph type="dt" sz="half" idx="10"/>
          </p:nvPr>
        </p:nvSpPr>
        <p:spPr/>
        <p:txBody>
          <a:bodyPr/>
          <a:lstStyle/>
          <a:p>
            <a:pPr>
              <a:defRPr/>
            </a:pPr>
            <a:fld id="{5246F511-33B4-4684-9F91-8CFDFBA51AAB}" type="datetime3">
              <a:rPr lang="en-US" smtClean="0"/>
            </a:fld>
            <a:endParaRPr lang="en-US" dirty="0"/>
          </a:p>
        </p:txBody>
      </p:sp>
      <p:sp>
        <p:nvSpPr>
          <p:cNvPr id="6" name="Footer Placeholder 5"/>
          <p:cNvSpPr>
            <a:spLocks noGrp="1"/>
          </p:cNvSpPr>
          <p:nvPr>
            <p:ph type="ftr" sz="quarter" idx="11"/>
          </p:nvPr>
        </p:nvSpPr>
        <p:spPr/>
        <p:txBody>
          <a:bodyPr/>
          <a:lstStyle/>
          <a:p>
            <a:pPr>
              <a:defRPr/>
            </a:pPr>
            <a:r>
              <a:rPr lang="en-US"/>
              <a:t>CGB1121 – PYTHON PROGRAMMING –PROJECT REVIEW 1</a:t>
            </a:r>
            <a:endParaRPr lang="en-US" dirty="0"/>
          </a:p>
        </p:txBody>
      </p:sp>
      <p:sp>
        <p:nvSpPr>
          <p:cNvPr id="7" name="Slide Number Placeholder 6"/>
          <p:cNvSpPr>
            <a:spLocks noGrp="1"/>
          </p:cNvSpPr>
          <p:nvPr>
            <p:ph type="sldNum" sz="quarter" idx="12"/>
          </p:nvPr>
        </p:nvSpPr>
        <p:spPr/>
        <p:txBody>
          <a:bodyPr/>
          <a:lstStyle/>
          <a:p>
            <a:pPr>
              <a:defRPr/>
            </a:pPr>
            <a:fld id="{7B93E55C-A662-4067-BE20-A4D82E579A38}" type="slidenum">
              <a:rPr lang="en-US" altLang="en-US" smtClean="0"/>
            </a:fld>
            <a:endParaRPr lang="en-US" altLang="en-US"/>
          </a:p>
        </p:txBody>
      </p:sp>
      <p:sp>
        <p:nvSpPr>
          <p:cNvPr id="8"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375642"/>
            <a:ext cx="182880" cy="51435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BCD6E9A3-7C5D-44BD-B91B-2254645B0D35}" type="datetime3">
              <a:rPr lang="en-US" smtClean="0"/>
            </a:fld>
            <a:endParaRPr lang="en-US" dirty="0"/>
          </a:p>
        </p:txBody>
      </p:sp>
      <p:sp>
        <p:nvSpPr>
          <p:cNvPr id="5" name="Footer Placeholder 4"/>
          <p:cNvSpPr>
            <a:spLocks noGrp="1"/>
          </p:cNvSpPr>
          <p:nvPr>
            <p:ph type="ftr" sz="quarter" idx="11"/>
          </p:nvPr>
        </p:nvSpPr>
        <p:spPr/>
        <p:txBody>
          <a:bodyPr/>
          <a:lstStyle/>
          <a:p>
            <a:pPr>
              <a:defRPr/>
            </a:pPr>
            <a:r>
              <a:rPr lang="en-US"/>
              <a:t>CGB1121 – PYTHON PROGRAMMING –PROJECT REVIEW 1</a:t>
            </a:r>
            <a:endParaRPr lang="en-US" dirty="0"/>
          </a:p>
        </p:txBody>
      </p:sp>
      <p:sp>
        <p:nvSpPr>
          <p:cNvPr id="6" name="Slide Number Placeholder 5"/>
          <p:cNvSpPr>
            <a:spLocks noGrp="1"/>
          </p:cNvSpPr>
          <p:nvPr>
            <p:ph type="sldNum" sz="quarter" idx="12"/>
          </p:nvPr>
        </p:nvSpPr>
        <p:spPr/>
        <p:txBody>
          <a:bodyPr/>
          <a:lstStyle/>
          <a:p>
            <a:pPr>
              <a:defRPr/>
            </a:pPr>
            <a:fld id="{9A0C11DA-FA02-4E33-93FC-C378FAF95FBA}" type="slidenum">
              <a:rPr lang="en-US" altLang="en-US" smtClean="0"/>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kumimoji="0" lang="en-US"/>
              <a:t>Click to edit Master title style</a:t>
            </a:r>
            <a:endParaRPr kumimoji="0"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A9A020FA-B49B-4391-A45E-A9A582874558}" type="datetime3">
              <a:rPr lang="en-US" smtClean="0"/>
            </a:fld>
            <a:endParaRPr lang="en-US" dirty="0"/>
          </a:p>
        </p:txBody>
      </p:sp>
      <p:sp>
        <p:nvSpPr>
          <p:cNvPr id="5" name="Footer Placeholder 4"/>
          <p:cNvSpPr>
            <a:spLocks noGrp="1"/>
          </p:cNvSpPr>
          <p:nvPr>
            <p:ph type="ftr" sz="quarter" idx="11"/>
          </p:nvPr>
        </p:nvSpPr>
        <p:spPr/>
        <p:txBody>
          <a:bodyPr/>
          <a:lstStyle/>
          <a:p>
            <a:pPr>
              <a:defRPr/>
            </a:pPr>
            <a:r>
              <a:rPr lang="en-US"/>
              <a:t>CGB1121 – PYTHON PROGRAMMING –PROJECT REVIEW 1</a:t>
            </a:r>
            <a:endParaRPr lang="en-US" dirty="0"/>
          </a:p>
        </p:txBody>
      </p:sp>
      <p:sp>
        <p:nvSpPr>
          <p:cNvPr id="6" name="Slide Number Placeholder 5"/>
          <p:cNvSpPr>
            <a:spLocks noGrp="1"/>
          </p:cNvSpPr>
          <p:nvPr>
            <p:ph type="sldNum" sz="quarter" idx="12"/>
          </p:nvPr>
        </p:nvSpPr>
        <p:spPr/>
        <p:txBody>
          <a:bodyPr/>
          <a:lstStyle/>
          <a:p>
            <a:pPr>
              <a:defRPr/>
            </a:pPr>
            <a:fld id="{B1E085C4-C07B-4C80-B337-90438D59D3CD}" type="slidenum">
              <a:rPr lang="en-US" altLang="en-US" smtClean="0"/>
            </a:fld>
            <a:endParaRPr lang="en-US" altLang="en-US"/>
          </a:p>
        </p:txBody>
      </p:sp>
      <p:sp>
        <p:nvSpPr>
          <p:cNvPr id="7" name="Straight Connector 6"/>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4361127" y="2401464"/>
            <a:ext cx="438912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alphaModFix amt="29000"/>
            <a:lum/>
          </a:blip>
          <a:srcRect/>
          <a:tile tx="0" ty="0" sx="100000" sy="100000" flip="none" algn="tl"/>
        </a:blipFill>
        <a:effectLst/>
      </p:bgPr>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14300"/>
            <a:ext cx="8229600" cy="742950"/>
          </a:xfrm>
          <a:prstGeom prst="rect">
            <a:avLst/>
          </a:prstGeom>
        </p:spPr>
        <p:txBody>
          <a:bodyPr vert="horz" anchor="b" anchorCtr="0">
            <a:normAutofit/>
          </a:bodyPr>
          <a:lstStyle/>
          <a:p>
            <a:r>
              <a:rPr kumimoji="0" lang="en-US"/>
              <a:t>Click to edit Master title style</a:t>
            </a:r>
            <a:endParaRPr kumimoji="0" lang="en-US"/>
          </a:p>
        </p:txBody>
      </p:sp>
      <p:sp>
        <p:nvSpPr>
          <p:cNvPr id="13" name="Text Placeholder 12"/>
          <p:cNvSpPr>
            <a:spLocks noGrp="1"/>
          </p:cNvSpPr>
          <p:nvPr>
            <p:ph type="body" idx="1"/>
          </p:nvPr>
        </p:nvSpPr>
        <p:spPr>
          <a:xfrm>
            <a:off x="457200" y="914400"/>
            <a:ext cx="8229600" cy="3682746"/>
          </a:xfrm>
          <a:prstGeom prst="rect">
            <a:avLst/>
          </a:prstGeom>
        </p:spPr>
        <p:txBody>
          <a:bodyPr vert="horz">
            <a:normAutofit/>
          </a:bodyPr>
          <a:lstStyle/>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a:p>
        </p:txBody>
      </p:sp>
      <p:sp>
        <p:nvSpPr>
          <p:cNvPr id="14" name="Date Placeholder 13"/>
          <p:cNvSpPr>
            <a:spLocks noGrp="1"/>
          </p:cNvSpPr>
          <p:nvPr>
            <p:ph type="dt" sz="half" idx="2"/>
          </p:nvPr>
        </p:nvSpPr>
        <p:spPr>
          <a:xfrm>
            <a:off x="6400800" y="4767263"/>
            <a:ext cx="2289048" cy="274320"/>
          </a:xfrm>
          <a:prstGeom prst="rect">
            <a:avLst/>
          </a:prstGeom>
        </p:spPr>
        <p:txBody>
          <a:bodyPr vert="horz"/>
          <a:lstStyle>
            <a:lvl1pPr algn="l" eaLnBrk="1" latinLnBrk="0" hangingPunct="1">
              <a:defRPr kumimoji="0" sz="1400">
                <a:solidFill>
                  <a:schemeClr val="tx2"/>
                </a:solidFill>
              </a:defRPr>
            </a:lvl1pPr>
          </a:lstStyle>
          <a:p>
            <a:pPr>
              <a:defRPr/>
            </a:pPr>
            <a:fld id="{03F0DBEF-CC95-4709-B5D7-B1ACCC3FD3B5}" type="datetime3">
              <a:rPr lang="en-US" smtClean="0"/>
            </a:fld>
            <a:endParaRPr lang="en-US" dirty="0"/>
          </a:p>
        </p:txBody>
      </p:sp>
      <p:sp>
        <p:nvSpPr>
          <p:cNvPr id="3" name="Footer Placeholder 2"/>
          <p:cNvSpPr>
            <a:spLocks noGrp="1"/>
          </p:cNvSpPr>
          <p:nvPr>
            <p:ph type="ftr" sz="quarter" idx="3"/>
          </p:nvPr>
        </p:nvSpPr>
        <p:spPr>
          <a:xfrm>
            <a:off x="2898648" y="4767263"/>
            <a:ext cx="3505200" cy="274320"/>
          </a:xfrm>
          <a:prstGeom prst="rect">
            <a:avLst/>
          </a:prstGeom>
        </p:spPr>
        <p:txBody>
          <a:bodyPr vert="horz"/>
          <a:lstStyle>
            <a:lvl1pPr algn="r" eaLnBrk="1" latinLnBrk="0" hangingPunct="1">
              <a:defRPr kumimoji="0" sz="1400">
                <a:solidFill>
                  <a:schemeClr val="tx2"/>
                </a:solidFill>
              </a:defRPr>
            </a:lvl1pPr>
          </a:lstStyle>
          <a:p>
            <a:pPr>
              <a:defRPr/>
            </a:pPr>
            <a:r>
              <a:rPr lang="en-US"/>
              <a:t>CGB1121 – PYTHON PROGRAMMING –PROJECT REVIEW 1</a:t>
            </a:r>
            <a:endParaRPr lang="en-US" dirty="0"/>
          </a:p>
        </p:txBody>
      </p:sp>
      <p:sp>
        <p:nvSpPr>
          <p:cNvPr id="23" name="Slide Number Placeholder 22"/>
          <p:cNvSpPr>
            <a:spLocks noGrp="1"/>
          </p:cNvSpPr>
          <p:nvPr>
            <p:ph type="sldNum" sz="quarter" idx="4"/>
          </p:nvPr>
        </p:nvSpPr>
        <p:spPr>
          <a:xfrm>
            <a:off x="612648" y="4767263"/>
            <a:ext cx="1981200" cy="274320"/>
          </a:xfrm>
          <a:prstGeom prst="rect">
            <a:avLst/>
          </a:prstGeom>
        </p:spPr>
        <p:txBody>
          <a:bodyPr vert="horz"/>
          <a:lstStyle>
            <a:lvl1pPr algn="l" eaLnBrk="1" latinLnBrk="0" hangingPunct="1">
              <a:defRPr kumimoji="0" sz="1400">
                <a:solidFill>
                  <a:schemeClr val="tx2"/>
                </a:solidFill>
              </a:defRPr>
            </a:lvl1pPr>
          </a:lstStyle>
          <a:p>
            <a:pPr>
              <a:defRPr/>
            </a:pPr>
            <a:fld id="{D78D2778-B29C-49DB-A26C-44F5760A332D}" type="slidenum">
              <a:rPr lang="en-US" altLang="en-US" smtClean="0"/>
            </a:fld>
            <a:endParaRPr lang="en-US" altLang="en-US"/>
          </a:p>
        </p:txBody>
      </p:sp>
      <p:sp>
        <p:nvSpPr>
          <p:cNvPr id="28" name="Straight Connector 2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85725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panose="05040102010807070707"/>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panose="05040102010807070707"/>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panose="05040102010807070707"/>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panose="05000000000000000000"/>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panose="05000000000000000000"/>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1052513"/>
          </a:xfrm>
          <a:solidFill>
            <a:schemeClr val="bg2">
              <a:lumMod val="75000"/>
            </a:schemeClr>
          </a:solidFill>
          <a:ln>
            <a:solidFill>
              <a:schemeClr val="tx1"/>
            </a:solidFill>
          </a:ln>
        </p:spPr>
        <p:txBody>
          <a:bodyPr>
            <a:normAutofit/>
          </a:bodyPr>
          <a:lstStyle/>
          <a:p>
            <a:pPr algn="ctr">
              <a:defRPr/>
            </a:pPr>
            <a:r>
              <a:rPr lang="en-IN" sz="2800" b="1" dirty="0">
                <a:solidFill>
                  <a:schemeClr val="tx1"/>
                </a:solidFill>
                <a:latin typeface="Times New Roman" panose="02020603050405020304" pitchFamily="18" charset="0"/>
                <a:cs typeface="Times New Roman" panose="02020603050405020304" pitchFamily="18" charset="0"/>
              </a:rPr>
              <a:t>CGB1121 – PYTHON PROGRAMMING</a:t>
            </a:r>
            <a:br>
              <a:rPr lang="en-IN" sz="2800" b="1" dirty="0">
                <a:solidFill>
                  <a:schemeClr val="tx1"/>
                </a:solidFill>
                <a:latin typeface="Times New Roman" panose="02020603050405020304" pitchFamily="18" charset="0"/>
                <a:cs typeface="Times New Roman" panose="02020603050405020304" pitchFamily="18" charset="0"/>
              </a:rPr>
            </a:br>
            <a:r>
              <a:rPr lang="en-US" sz="2800" b="1">
                <a:solidFill>
                  <a:schemeClr val="dk1"/>
                </a:solidFill>
                <a:latin typeface="Times New Roman" panose="02020603050405020304"/>
                <a:ea typeface="Times New Roman" panose="02020603050405020304"/>
                <a:cs typeface="Times New Roman" panose="02020603050405020304"/>
                <a:sym typeface="Times New Roman" panose="02020603050405020304"/>
              </a:rPr>
              <a:t>END SEMESTER REVIEW</a:t>
            </a:r>
            <a:endParaRPr lang="en-US" altLang="en-IN" sz="2800" b="1" dirty="0">
              <a:solidFill>
                <a:schemeClr val="tx1"/>
              </a:solidFill>
              <a:latin typeface="Times New Roman" panose="02020603050405020304" pitchFamily="18" charset="0"/>
              <a:cs typeface="Times New Roman" panose="02020603050405020304" pitchFamily="18" charset="0"/>
            </a:endParaRPr>
          </a:p>
        </p:txBody>
      </p:sp>
      <p:sp>
        <p:nvSpPr>
          <p:cNvPr id="7" name="Footer Placeholder 4"/>
          <p:cNvSpPr txBox="1"/>
          <p:nvPr/>
        </p:nvSpPr>
        <p:spPr>
          <a:xfrm>
            <a:off x="755725" y="1200150"/>
            <a:ext cx="7772400" cy="3505200"/>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r>
              <a:rPr lang="en-US" sz="2500" b="1" dirty="0">
                <a:solidFill>
                  <a:schemeClr val="tx1"/>
                </a:solidFill>
                <a:latin typeface="Times New Roman" panose="02020603050405020304" pitchFamily="18" charset="0"/>
                <a:cs typeface="Times New Roman" panose="02020603050405020304" pitchFamily="18" charset="0"/>
              </a:rPr>
              <a:t>Department of Computer Science and Engineering</a:t>
            </a:r>
            <a:endParaRPr lang="en-US" sz="2500" b="1" dirty="0">
              <a:solidFill>
                <a:schemeClr val="tx1"/>
              </a:solidFill>
              <a:latin typeface="Times New Roman" panose="02020603050405020304" pitchFamily="18" charset="0"/>
              <a:cs typeface="Times New Roman" panose="02020603050405020304" pitchFamily="18" charset="0"/>
            </a:endParaRPr>
          </a:p>
          <a:p>
            <a:pPr algn="ctr">
              <a:defRPr/>
            </a:pPr>
            <a:r>
              <a:rPr lang="en-US" sz="2500" b="1" dirty="0">
                <a:solidFill>
                  <a:schemeClr val="tx1"/>
                </a:solidFill>
                <a:latin typeface="Times New Roman" panose="02020603050405020304" pitchFamily="18" charset="0"/>
                <a:cs typeface="Times New Roman" panose="02020603050405020304" pitchFamily="18" charset="0"/>
              </a:rPr>
              <a:t>Academic Year: 2025 – 2026 (Even Semester)</a:t>
            </a:r>
            <a:endParaRPr lang="en-US" sz="2500" b="1" dirty="0">
              <a:solidFill>
                <a:schemeClr val="tx1"/>
              </a:solidFill>
              <a:latin typeface="Times New Roman" panose="02020603050405020304" pitchFamily="18" charset="0"/>
              <a:cs typeface="Times New Roman" panose="02020603050405020304" pitchFamily="18" charset="0"/>
            </a:endParaRPr>
          </a:p>
          <a:p>
            <a:pPr>
              <a:defRPr/>
            </a:pPr>
            <a:r>
              <a:rPr lang="en-US" sz="2500" b="1" dirty="0">
                <a:solidFill>
                  <a:schemeClr val="tx1"/>
                </a:solidFill>
                <a:latin typeface="Times New Roman" panose="02020603050405020304" pitchFamily="18" charset="0"/>
                <a:cs typeface="Times New Roman" panose="02020603050405020304" pitchFamily="18" charset="0"/>
              </a:rPr>
              <a:t>Batch No.				:08</a:t>
            </a:r>
            <a:endParaRPr lang="en-US" sz="2500" b="1" dirty="0">
              <a:solidFill>
                <a:schemeClr val="tx1"/>
              </a:solidFill>
              <a:latin typeface="Times New Roman" panose="02020603050405020304" pitchFamily="18" charset="0"/>
              <a:cs typeface="Times New Roman" panose="02020603050405020304" pitchFamily="18" charset="0"/>
            </a:endParaRPr>
          </a:p>
          <a:p>
            <a:pPr>
              <a:defRPr/>
            </a:pPr>
            <a:r>
              <a:rPr lang="en-US" sz="2500" b="1" dirty="0">
                <a:solidFill>
                  <a:schemeClr val="tx1"/>
                </a:solidFill>
                <a:latin typeface="Times New Roman" panose="02020603050405020304" pitchFamily="18" charset="0"/>
                <a:cs typeface="Times New Roman" panose="02020603050405020304" pitchFamily="18" charset="0"/>
              </a:rPr>
              <a:t>Register Number	:927625BCS068,927625BCS105</a:t>
            </a:r>
            <a:endParaRPr lang="en-US" sz="2500" b="1" dirty="0">
              <a:solidFill>
                <a:schemeClr val="tx1"/>
              </a:solidFill>
              <a:latin typeface="Times New Roman" panose="02020603050405020304" pitchFamily="18" charset="0"/>
              <a:cs typeface="Times New Roman" panose="02020603050405020304" pitchFamily="18" charset="0"/>
            </a:endParaRPr>
          </a:p>
          <a:p>
            <a:pPr>
              <a:defRPr/>
            </a:pPr>
            <a:r>
              <a:rPr lang="en-US" sz="2500" b="1" dirty="0">
                <a:solidFill>
                  <a:schemeClr val="tx1"/>
                </a:solidFill>
                <a:latin typeface="Times New Roman" panose="02020603050405020304" pitchFamily="18" charset="0"/>
                <a:cs typeface="Times New Roman" panose="02020603050405020304" pitchFamily="18" charset="0"/>
              </a:rPr>
              <a:t>Name					:KARTHIKA S,NETHRA V</a:t>
            </a:r>
            <a:endParaRPr lang="en-US" sz="2500" b="1" dirty="0">
              <a:solidFill>
                <a:schemeClr val="tx1"/>
              </a:solidFill>
              <a:latin typeface="Times New Roman" panose="02020603050405020304" pitchFamily="18" charset="0"/>
              <a:cs typeface="Times New Roman" panose="02020603050405020304" pitchFamily="18" charset="0"/>
            </a:endParaRPr>
          </a:p>
          <a:p>
            <a:pPr>
              <a:defRPr/>
            </a:pPr>
            <a:r>
              <a:rPr lang="en-US" sz="2500" b="1" dirty="0">
                <a:solidFill>
                  <a:schemeClr val="tx1"/>
                </a:solidFill>
                <a:latin typeface="Times New Roman" panose="02020603050405020304" pitchFamily="18" charset="0"/>
                <a:cs typeface="Times New Roman" panose="02020603050405020304" pitchFamily="18" charset="0"/>
              </a:rPr>
              <a:t>Year					: I</a:t>
            </a:r>
            <a:endParaRPr lang="en-US" sz="2500" b="1" dirty="0">
              <a:solidFill>
                <a:schemeClr val="tx1"/>
              </a:solidFill>
              <a:latin typeface="Times New Roman" panose="02020603050405020304" pitchFamily="18" charset="0"/>
              <a:cs typeface="Times New Roman" panose="02020603050405020304" pitchFamily="18" charset="0"/>
            </a:endParaRPr>
          </a:p>
          <a:p>
            <a:pPr>
              <a:defRPr/>
            </a:pPr>
            <a:r>
              <a:rPr lang="en-US" sz="2500" b="1" dirty="0">
                <a:solidFill>
                  <a:schemeClr val="tx1"/>
                </a:solidFill>
                <a:latin typeface="Times New Roman" panose="02020603050405020304" pitchFamily="18" charset="0"/>
                <a:cs typeface="Times New Roman" panose="02020603050405020304" pitchFamily="18" charset="0"/>
              </a:rPr>
              <a:t>Semester				: II</a:t>
            </a:r>
            <a:endParaRPr lang="en-US" sz="2500" b="1" dirty="0">
              <a:solidFill>
                <a:schemeClr val="tx1"/>
              </a:solidFill>
              <a:latin typeface="Times New Roman" panose="02020603050405020304" pitchFamily="18" charset="0"/>
              <a:cs typeface="Times New Roman" panose="02020603050405020304" pitchFamily="18" charset="0"/>
            </a:endParaRPr>
          </a:p>
          <a:p>
            <a:pPr>
              <a:defRPr/>
            </a:pPr>
            <a:r>
              <a:rPr lang="en-US" sz="2500" b="1" dirty="0">
                <a:solidFill>
                  <a:schemeClr val="tx1"/>
                </a:solidFill>
                <a:latin typeface="Times New Roman" panose="02020603050405020304" pitchFamily="18" charset="0"/>
                <a:cs typeface="Times New Roman" panose="02020603050405020304" pitchFamily="18" charset="0"/>
              </a:rPr>
              <a:t>Section				: B</a:t>
            </a:r>
            <a:endParaRPr lang="en-US" sz="2500" b="1" dirty="0">
              <a:solidFill>
                <a:schemeClr val="tx1"/>
              </a:solidFill>
              <a:latin typeface="Times New Roman" panose="02020603050405020304" pitchFamily="18" charset="0"/>
              <a:cs typeface="Times New Roman" panose="02020603050405020304" pitchFamily="18" charset="0"/>
            </a:endParaRPr>
          </a:p>
          <a:p>
            <a:pPr>
              <a:defRPr/>
            </a:pPr>
            <a:r>
              <a:rPr lang="en-US" sz="2500" b="1" dirty="0">
                <a:solidFill>
                  <a:schemeClr val="tx1"/>
                </a:solidFill>
                <a:latin typeface="Times New Roman" panose="02020603050405020304" pitchFamily="18" charset="0"/>
                <a:cs typeface="Times New Roman" panose="02020603050405020304" pitchFamily="18" charset="0"/>
              </a:rPr>
              <a:t>Date					:04.06.2026</a:t>
            </a:r>
            <a:endParaRPr lang="en-US" sz="2500" b="1"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DB554FDC-F986-4516-81A3-5CBC9634E9C1}" type="slidenum">
              <a:rPr lang="en-US" altLang="en-US" smtClean="0"/>
            </a:fld>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Title of the Project</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2438400" y="4767263"/>
            <a:ext cx="4340352" cy="376237"/>
          </a:xfrm>
        </p:spPr>
        <p:txBody>
          <a:bodyPr/>
          <a:lstStyle/>
          <a:p>
            <a:pPr>
              <a:defRPr/>
            </a:pPr>
            <a:r>
              <a:rPr lang="en-US" sz="1200" dirty="0">
                <a:latin typeface="Times New Roman" panose="02020603050405020304" pitchFamily="18" charset="0"/>
                <a:cs typeface="Times New Roman" panose="02020603050405020304" pitchFamily="18" charset="0"/>
              </a:rPr>
              <a:t>CGB1121 – PYTHON PROGRAMMING –PROJECT REVIEW 2</a:t>
            </a:r>
            <a:endParaRPr lang="en-US" sz="1200" dirty="0">
              <a:latin typeface="Times New Roman" panose="02020603050405020304" pitchFamily="18" charset="0"/>
              <a:cs typeface="Times New Roman" panose="02020603050405020304" pitchFamily="18" charset="0"/>
            </a:endParaRPr>
          </a:p>
        </p:txBody>
      </p:sp>
      <p:sp>
        <p:nvSpPr>
          <p:cNvPr id="8196" name="Slide Number Placeholder 5"/>
          <p:cNvSpPr>
            <a:spLocks noGrp="1" noChangeArrowheads="1"/>
          </p:cNvSpPr>
          <p:nvPr>
            <p:ph type="sldNum" sz="quarter" idx="12"/>
          </p:nvPr>
        </p:nvSpPr>
        <p:spPr bwMode="auto">
          <a:noFill/>
          <a:ln>
            <a:miter lim="800000"/>
          </a:ln>
        </p:spPr>
        <p:txBody>
          <a:bodyPr/>
          <a:lstStyle/>
          <a:p>
            <a:fld id="{C8B3AA75-1EA1-4A20-9182-A423EE2FFA8F}" type="slidenum">
              <a:rPr lang="en-US" altLang="en-US"/>
            </a:fld>
            <a:endParaRPr lang="en-US" altLang="en-US"/>
          </a:p>
        </p:txBody>
      </p:sp>
      <p:sp>
        <p:nvSpPr>
          <p:cNvPr id="7" name="Footer Placeholder 4"/>
          <p:cNvSpPr txBox="1"/>
          <p:nvPr/>
        </p:nvSpPr>
        <p:spPr>
          <a:xfrm>
            <a:off x="799641" y="1271071"/>
            <a:ext cx="7772400" cy="1224479"/>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endParaRPr lang="en-US" sz="2500" b="1" dirty="0"/>
          </a:p>
        </p:txBody>
      </p:sp>
      <p:sp>
        <p:nvSpPr>
          <p:cNvPr id="6" name="Content Placeholder 2"/>
          <p:cNvSpPr>
            <a:spLocks noGrp="1"/>
          </p:cNvSpPr>
          <p:nvPr>
            <p:ph sz="quarter" idx="1"/>
          </p:nvPr>
        </p:nvSpPr>
        <p:spPr>
          <a:xfrm>
            <a:off x="457200" y="914400"/>
            <a:ext cx="8229600" cy="3703320"/>
          </a:xfrm>
        </p:spPr>
        <p:txBody>
          <a:bodyPr/>
          <a:lstStyle/>
          <a:p>
            <a:pPr marL="0" indent="0">
              <a:buNone/>
            </a:pPr>
            <a:endParaRPr lang="en-IN" b="1" dirty="0">
              <a:latin typeface="Times New Roman" panose="02020603050405020304" pitchFamily="18" charset="0"/>
              <a:cs typeface="Times New Roman" panose="02020603050405020304" pitchFamily="18" charset="0"/>
            </a:endParaRP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             ONLINE SHOPPING CART MANAGER</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9550"/>
            <a:ext cx="8229600" cy="609600"/>
          </a:xfrm>
          <a:solidFill>
            <a:schemeClr val="bg2">
              <a:lumMod val="75000"/>
            </a:schemeClr>
          </a:solidFill>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Abstract</a:t>
            </a:r>
            <a:r>
              <a:rPr lang="en-IN" dirty="0">
                <a:solidFill>
                  <a:schemeClr val="tx1"/>
                </a:solidFill>
                <a:latin typeface="Times New Roman" panose="02020603050405020304" pitchFamily="18" charset="0"/>
                <a:cs typeface="Times New Roman" panose="02020603050405020304" pitchFamily="18" charset="0"/>
              </a:rPr>
              <a:t> </a:t>
            </a:r>
            <a:endParaRPr lang="en-IN" sz="4000" dirty="0">
              <a:solidFill>
                <a:schemeClr val="tx1"/>
              </a:solidFill>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a:xfrm>
            <a:off x="2438400" y="4767263"/>
            <a:ext cx="4267200" cy="376237"/>
          </a:xfrm>
        </p:spPr>
        <p:txBody>
          <a:bodyPr/>
          <a:lstStyle/>
          <a:p>
            <a:pPr>
              <a:defRPr/>
            </a:pPr>
            <a:r>
              <a:rPr lang="en-US" sz="1200" dirty="0">
                <a:latin typeface="Times New Roman" panose="02020603050405020304" pitchFamily="18" charset="0"/>
                <a:cs typeface="Times New Roman" panose="02020603050405020304" pitchFamily="18" charset="0"/>
              </a:rPr>
              <a:t>CGB1121 – PYTHON PROGRAMMING –PROJECT REVIEW 2</a:t>
            </a:r>
            <a:endParaRPr lang="en-US" sz="1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fld>
            <a:endParaRPr lang="en-US" altLang="en-US"/>
          </a:p>
        </p:txBody>
      </p:sp>
      <p:sp>
        <p:nvSpPr>
          <p:cNvPr id="3" name="Content Placeholder 2"/>
          <p:cNvSpPr>
            <a:spLocks noGrp="1"/>
          </p:cNvSpPr>
          <p:nvPr>
            <p:ph sz="quarter" idx="1"/>
          </p:nvPr>
        </p:nvSpPr>
        <p:spPr/>
        <p:txBody>
          <a:bodyPr>
            <a:normAutofit fontScale="85000" lnSpcReduction="20000"/>
          </a:bodyPr>
          <a:lstStyle/>
          <a:p>
            <a:pPr marL="0" indent="0">
              <a:buNone/>
            </a:pPr>
            <a:r>
              <a:rPr lang="en-US" dirty="0">
                <a:latin typeface="Times New Roman" panose="02020603050405020304" pitchFamily="18" charset="0"/>
                <a:cs typeface="Times New Roman" panose="02020603050405020304" pitchFamily="18" charset="0"/>
              </a:rPr>
              <a:t>The Online Shopping Cart Manager is a Python-based application designed to simulate the core functionality of an e-commerce shopping cart system. This project uses lists and basic data structures to store and manage items selected by users. It allows users to add new products, remove existing items, update quantities, and view the cart contents efficiently . The system dynamically calculates the total cost based on the items and their quantities, ensuring accurate billing. By implementing fundamental programming concepts such as loops, conditional statements, and functions, this project demonstrates how real-world online shopping platforms manage cart </a:t>
            </a:r>
            <a:r>
              <a:rPr lang="en-US" dirty="0" err="1">
                <a:latin typeface="Times New Roman" panose="02020603050405020304" pitchFamily="18" charset="0"/>
                <a:cs typeface="Times New Roman" panose="02020603050405020304" pitchFamily="18" charset="0"/>
              </a:rPr>
              <a:t>operations.Overall</a:t>
            </a:r>
            <a:r>
              <a:rPr lang="en-US" dirty="0">
                <a:latin typeface="Times New Roman" panose="02020603050405020304" pitchFamily="18" charset="0"/>
                <a:cs typeface="Times New Roman" panose="02020603050405020304" pitchFamily="18" charset="0"/>
              </a:rPr>
              <a:t>, the project provides a simple yet effective simulation of an online shopping cart, enhancing understanding of data management and user interaction in Python applications.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685800" y="171450"/>
            <a:ext cx="8001000" cy="495300"/>
          </a:xfrm>
          <a:solidFill>
            <a:schemeClr val="bg2">
              <a:lumMod val="75000"/>
            </a:schemeClr>
          </a:solidFill>
        </p:spPr>
        <p:txBody>
          <a:bodyPr>
            <a:noAutofit/>
          </a:bodyPr>
          <a:lstStyle/>
          <a:p>
            <a:pPr algn="ctr"/>
            <a:r>
              <a:rPr lang="en-IN" b="1" dirty="0">
                <a:solidFill>
                  <a:schemeClr val="tx1"/>
                </a:solidFill>
                <a:latin typeface="Times New Roman" panose="02020603050405020304" pitchFamily="18" charset="0"/>
                <a:cs typeface="Times New Roman" panose="02020603050405020304" pitchFamily="18" charset="0"/>
              </a:rPr>
              <a:t>Abstract with CO/PO Mapping</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a:xfrm>
            <a:off x="2362200" y="4767263"/>
            <a:ext cx="4572000" cy="376237"/>
          </a:xfrm>
        </p:spPr>
        <p:txBody>
          <a:bodyPr/>
          <a:lstStyle/>
          <a:p>
            <a:pPr>
              <a:defRPr/>
            </a:pPr>
            <a:r>
              <a:rPr lang="en-US" sz="1200" dirty="0">
                <a:latin typeface="Times New Roman" panose="02020603050405020304" pitchFamily="18" charset="0"/>
                <a:cs typeface="Times New Roman" panose="02020603050405020304" pitchFamily="18" charset="0"/>
              </a:rPr>
              <a:t>CGB1121 – PYTHON PROGRAMMING –PROJECT REVIEW 2</a:t>
            </a:r>
            <a:endParaRPr lang="en-US" sz="1200" dirty="0">
              <a:latin typeface="Times New Roman" panose="02020603050405020304" pitchFamily="18" charset="0"/>
              <a:cs typeface="Times New Roman" panose="02020603050405020304" pitchFamily="18" charset="0"/>
            </a:endParaRPr>
          </a:p>
        </p:txBody>
      </p:sp>
      <p:sp>
        <p:nvSpPr>
          <p:cNvPr id="8196" name="Slide Number Placeholder 5"/>
          <p:cNvSpPr>
            <a:spLocks noGrp="1" noChangeArrowheads="1"/>
          </p:cNvSpPr>
          <p:nvPr>
            <p:ph type="sldNum" sz="quarter" idx="12"/>
          </p:nvPr>
        </p:nvSpPr>
        <p:spPr bwMode="auto">
          <a:noFill/>
          <a:ln>
            <a:miter lim="800000"/>
          </a:ln>
        </p:spPr>
        <p:txBody>
          <a:bodyPr/>
          <a:lstStyle/>
          <a:p>
            <a:fld id="{C8B3AA75-1EA1-4A20-9182-A423EE2FFA8F}" type="slidenum">
              <a:rPr lang="en-US" altLang="en-US"/>
            </a:fld>
            <a:endParaRPr lang="en-US" altLang="en-US"/>
          </a:p>
        </p:txBody>
      </p:sp>
      <p:sp>
        <p:nvSpPr>
          <p:cNvPr id="7" name="Footer Placeholder 4"/>
          <p:cNvSpPr txBox="1"/>
          <p:nvPr/>
        </p:nvSpPr>
        <p:spPr>
          <a:xfrm>
            <a:off x="799641" y="1271071"/>
            <a:ext cx="7772400" cy="1224479"/>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endParaRPr lang="en-US" sz="2500" b="1" dirty="0"/>
          </a:p>
        </p:txBody>
      </p:sp>
      <p:graphicFrame>
        <p:nvGraphicFramePr>
          <p:cNvPr id="3" name="Table 2"/>
          <p:cNvGraphicFramePr>
            <a:graphicFrameLocks noGrp="1"/>
          </p:cNvGraphicFramePr>
          <p:nvPr/>
        </p:nvGraphicFramePr>
        <p:xfrm>
          <a:off x="228600" y="971550"/>
          <a:ext cx="8686800" cy="3693796"/>
        </p:xfrm>
        <a:graphic>
          <a:graphicData uri="http://schemas.openxmlformats.org/drawingml/2006/table">
            <a:tbl>
              <a:tblPr firstRow="1" bandRow="1">
                <a:tableStyleId>{5C22544A-7EE6-4342-B048-85BDC9FD1C3A}</a:tableStyleId>
              </a:tblPr>
              <a:tblGrid>
                <a:gridCol w="6088879"/>
                <a:gridCol w="893036"/>
                <a:gridCol w="974220"/>
                <a:gridCol w="730665"/>
              </a:tblGrid>
              <a:tr h="500414">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Abstract</a:t>
                      </a:r>
                      <a:endParaRPr lang="en-US" sz="1800" dirty="0">
                        <a:solidFill>
                          <a:schemeClr val="tx1"/>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CO</a:t>
                      </a:r>
                      <a:endParaRPr lang="en-US" sz="1800" dirty="0">
                        <a:solidFill>
                          <a:schemeClr val="tx1"/>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POs</a:t>
                      </a:r>
                      <a:endParaRPr lang="en-US" sz="1800" dirty="0">
                        <a:solidFill>
                          <a:schemeClr val="tx1"/>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PSO</a:t>
                      </a:r>
                      <a:endParaRPr lang="en-US" sz="1800" dirty="0">
                        <a:solidFill>
                          <a:schemeClr val="tx1"/>
                        </a:solidFill>
                        <a:latin typeface="Times New Roman" panose="02020603050405020304" pitchFamily="18" charset="0"/>
                        <a:cs typeface="Times New Roman" panose="02020603050405020304" pitchFamily="18" charset="0"/>
                      </a:endParaRPr>
                    </a:p>
                  </a:txBody>
                  <a:tcPr>
                    <a:solidFill>
                      <a:schemeClr val="bg2"/>
                    </a:solidFill>
                  </a:tcPr>
                </a:tc>
              </a:tr>
              <a:tr h="3193382">
                <a:tc>
                  <a:txBody>
                    <a:bodyPr/>
                    <a:lstStyle/>
                    <a:p>
                      <a:r>
                        <a:rPr lang="en-US" sz="1800" dirty="0">
                          <a:solidFill>
                            <a:schemeClr val="tx1"/>
                          </a:solidFill>
                          <a:latin typeface="Times New Roman" panose="02020603050405020304" pitchFamily="18" charset="0"/>
                          <a:cs typeface="Times New Roman" panose="02020603050405020304" pitchFamily="18" charset="0"/>
                        </a:rPr>
                        <a:t>The Online Shopping Cart Manager is a Python-based application that simulates the basic functions of an e-commerce system. It allows users to add, remove, and update items in a shopping cart using simple data structures like lists . The system automatically calculates the total cost and provides an easy way to manage cart items. This project demonstrates basic programming concepts such as loops, conditions, and functions, and helps in understanding how online shopping systems work in a simple way.</a:t>
                      </a:r>
                      <a:endParaRPr lang="en-US" sz="1800" dirty="0">
                        <a:solidFill>
                          <a:schemeClr val="tx1"/>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CO1</a:t>
                      </a:r>
                      <a:endParaRPr lang="en-US"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CO2</a:t>
                      </a:r>
                      <a:endParaRPr lang="en-US"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CO3</a:t>
                      </a:r>
                      <a:endParaRPr lang="en-US"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CO4</a:t>
                      </a:r>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PO1</a:t>
                      </a:r>
                      <a:endParaRPr lang="en-US"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PO2</a:t>
                      </a:r>
                      <a:endParaRPr lang="en-US"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PO3</a:t>
                      </a:r>
                      <a:endParaRPr lang="en-US"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PO4</a:t>
                      </a:r>
                      <a:endParaRPr lang="en-US"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PO5</a:t>
                      </a:r>
                      <a:endParaRPr lang="en-US"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PO6</a:t>
                      </a:r>
                      <a:endParaRPr lang="en-US"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PO7</a:t>
                      </a:r>
                      <a:endParaRPr lang="en-US"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PO8</a:t>
                      </a:r>
                      <a:endParaRPr lang="en-US"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PO9</a:t>
                      </a:r>
                      <a:endParaRPr lang="en-US"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PO10</a:t>
                      </a:r>
                      <a:endParaRPr lang="en-US"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PO11</a:t>
                      </a:r>
                      <a:endParaRPr lang="en-US" sz="1800" dirty="0">
                        <a:solidFill>
                          <a:schemeClr val="tx1"/>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PSO1</a:t>
                      </a:r>
                      <a:endParaRPr lang="en-US"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PSO2</a:t>
                      </a:r>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txBody>
                  <a:tcPr>
                    <a:solidFill>
                      <a:schemeClr val="bg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457200"/>
          </a:xfrm>
          <a:solidFill>
            <a:schemeClr val="bg2">
              <a:lumMod val="75000"/>
            </a:schemeClr>
          </a:solidFill>
        </p:spPr>
        <p:txBody>
          <a:bodyPr>
            <a:noAutofit/>
          </a:bodyPr>
          <a:lstStyle/>
          <a:p>
            <a:pPr algn="ctr"/>
            <a:r>
              <a:rPr lang="en-IN" b="1" dirty="0">
                <a:solidFill>
                  <a:schemeClr val="tx1"/>
                </a:solidFill>
                <a:latin typeface="Times New Roman" panose="02020603050405020304" pitchFamily="18" charset="0"/>
                <a:cs typeface="Times New Roman" panose="02020603050405020304" pitchFamily="18" charset="0"/>
              </a:rPr>
              <a:t>Introduction</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a:xfrm>
            <a:off x="2362200" y="4767263"/>
            <a:ext cx="4495800" cy="376237"/>
          </a:xfrm>
        </p:spPr>
        <p:txBody>
          <a:bodyPr/>
          <a:lstStyle/>
          <a:p>
            <a:pPr>
              <a:defRPr/>
            </a:pPr>
            <a:r>
              <a:rPr lang="en-US" sz="1200" dirty="0">
                <a:latin typeface="Times New Roman" panose="02020603050405020304" pitchFamily="18" charset="0"/>
                <a:cs typeface="Times New Roman" panose="02020603050405020304" pitchFamily="18" charset="0"/>
              </a:rPr>
              <a:t>CGB1121 – PYTHON PROGRAMMING –PROJECT REVIEW 2</a:t>
            </a:r>
            <a:endParaRPr lang="en-US" sz="1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fld>
            <a:endParaRPr lang="en-US" altLang="en-US"/>
          </a:p>
        </p:txBody>
      </p:sp>
      <p:sp>
        <p:nvSpPr>
          <p:cNvPr id="3" name="Content Placeholder 2"/>
          <p:cNvSpPr>
            <a:spLocks noGrp="1"/>
          </p:cNvSpPr>
          <p:nvPr>
            <p:ph sz="quarter" idx="1"/>
          </p:nvPr>
        </p:nvSpPr>
        <p:spPr/>
        <p:txBody>
          <a:bodyPr>
            <a:normAutofit fontScale="92500"/>
          </a:bodyPr>
          <a:lstStyle/>
          <a:p>
            <a:pPr marL="0" indent="0">
              <a:buNone/>
            </a:pPr>
            <a:r>
              <a:rPr lang="en-US" dirty="0">
                <a:latin typeface="Times New Roman" panose="02020603050405020304" pitchFamily="18" charset="0"/>
                <a:cs typeface="Times New Roman" panose="02020603050405020304" pitchFamily="18" charset="0"/>
              </a:rPr>
              <a:t>The Online Shopping Cart Manager is a simple project developed using Python programming. This application is designed to simulate the basic functions of an online shopping system. It allows users to add products, remove items, update quantities, and calculate the total price automatically. The project uses basic Python concepts such as lists, loops, functions, and conditional statements to manage the cart operations. The main aim of this project is to understand how Python can be used to handle data and perform real-world applications like online shopping systems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Python Programming  - Concepts Used</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a:xfrm>
            <a:off x="2133600" y="4767263"/>
            <a:ext cx="4416552" cy="376237"/>
          </a:xfrm>
        </p:spPr>
        <p:txBody>
          <a:bodyPr/>
          <a:lstStyle/>
          <a:p>
            <a:pPr>
              <a:defRPr/>
            </a:pPr>
            <a:r>
              <a:rPr lang="en-US" sz="1200" dirty="0">
                <a:latin typeface="Times New Roman" panose="02020603050405020304" pitchFamily="18" charset="0"/>
                <a:cs typeface="Times New Roman" panose="02020603050405020304" pitchFamily="18" charset="0"/>
              </a:rPr>
              <a:t>CGB1121 – PYTHON PROGRAMMING –PROJECT REVIEW 2</a:t>
            </a:r>
            <a:endParaRPr lang="en-US" sz="1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fld>
            <a:endParaRPr lang="en-US" altLang="en-US"/>
          </a:p>
        </p:txBody>
      </p:sp>
      <p:sp>
        <p:nvSpPr>
          <p:cNvPr id="3" name="Content Placeholder 2"/>
          <p:cNvSpPr>
            <a:spLocks noGrp="1"/>
          </p:cNvSpPr>
          <p:nvPr>
            <p:ph sz="quarter" idx="1"/>
          </p:nvPr>
        </p:nvSpPr>
        <p:spPr/>
        <p:txBody>
          <a:bodyPr>
            <a:normAutofit/>
          </a:bodyPr>
          <a:lstStyle/>
          <a:p>
            <a:pPr marL="0" indent="0">
              <a:buNone/>
            </a:pPr>
            <a:r>
              <a:rPr lang="en-US" sz="2200" dirty="0">
                <a:latin typeface="Times New Roman" panose="02020603050405020304" pitchFamily="18" charset="0"/>
                <a:cs typeface="Times New Roman" panose="02020603050405020304" pitchFamily="18" charset="0"/>
              </a:rPr>
              <a:t>This project uses basic Python programming concepts to implement the shopping cart system. Lists are used to store product names and prices. Conditional statements (if-else) help in making decisions such as adding or removing items. Loops are used to display products and repeat menu options. Functions are used to organize the code into small, reusable blocks. Variables are used to store user inputs and calculate the total cost. These concepts together help in building a simple and efficient shopping cart application.</a:t>
            </a: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742950"/>
          </a:xfrm>
          <a:solidFill>
            <a:schemeClr val="bg2">
              <a:lumMod val="75000"/>
            </a:schemeClr>
          </a:solidFill>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Proposed Architecture</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a:xfrm>
            <a:off x="2438400" y="4781550"/>
            <a:ext cx="4264152" cy="228600"/>
          </a:xfrm>
        </p:spPr>
        <p:txBody>
          <a:bodyPr/>
          <a:lstStyle/>
          <a:p>
            <a:pPr>
              <a:defRPr/>
            </a:pPr>
            <a:r>
              <a:rPr lang="en-US" sz="1200" dirty="0">
                <a:latin typeface="Times New Roman" panose="02020603050405020304" pitchFamily="18" charset="0"/>
                <a:cs typeface="Times New Roman" panose="02020603050405020304" pitchFamily="18" charset="0"/>
              </a:rPr>
              <a:t>CGB1121 – PYTHON PROGRAMMING –PROJECT REVIEW 2</a:t>
            </a:r>
            <a:endParaRPr lang="en-US" sz="1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fld>
            <a:endParaRPr lang="en-US" altLang="en-US"/>
          </a:p>
        </p:txBody>
      </p:sp>
      <p:sp>
        <p:nvSpPr>
          <p:cNvPr id="3" name="Content Placeholder 2"/>
          <p:cNvSpPr>
            <a:spLocks noGrp="1"/>
          </p:cNvSpPr>
          <p:nvPr>
            <p:ph sz="quarter" idx="1"/>
          </p:nvPr>
        </p:nvSpPr>
        <p:spPr>
          <a:xfrm>
            <a:off x="457200" y="798830"/>
            <a:ext cx="8229600" cy="3818890"/>
          </a:xfrm>
        </p:spPr>
        <p:txBody>
          <a:bodyPr>
            <a:normAutofit/>
          </a:bodyPr>
          <a:lstStyle/>
          <a:p>
            <a:pPr marL="0" indent="0">
              <a:buNone/>
            </a:pPr>
            <a:r>
              <a:rPr lang="en-US" altLang="en-US" dirty="0">
                <a:latin typeface="Times New Roman" panose="02020603050405020304" pitchFamily="18" charset="0"/>
                <a:cs typeface="Times New Roman" panose="02020603050405020304" pitchFamily="18" charset="0"/>
              </a:rPr>
              <a:t>       </a:t>
            </a:r>
            <a:endParaRPr lang="en-US" altLang="en-US" dirty="0">
              <a:latin typeface="Times New Roman" panose="02020603050405020304" pitchFamily="18" charset="0"/>
              <a:cs typeface="Times New Roman" panose="02020603050405020304" pitchFamily="18" charset="0"/>
            </a:endParaRPr>
          </a:p>
          <a:p>
            <a:pPr marL="0" indent="0">
              <a:buNone/>
            </a:pPr>
            <a:r>
              <a:rPr lang="en-US" altLang="en-US" dirty="0">
                <a:latin typeface="Times New Roman" panose="02020603050405020304" pitchFamily="18" charset="0"/>
                <a:cs typeface="Times New Roman" panose="02020603050405020304" pitchFamily="18" charset="0"/>
              </a:rPr>
              <a:t>        </a:t>
            </a:r>
            <a:endParaRPr lang="en-US" altLang="en-US" dirty="0">
              <a:latin typeface="Times New Roman" panose="02020603050405020304" pitchFamily="18" charset="0"/>
              <a:cs typeface="Times New Roman" panose="02020603050405020304" pitchFamily="18" charset="0"/>
            </a:endParaRPr>
          </a:p>
        </p:txBody>
      </p:sp>
      <p:sp>
        <p:nvSpPr>
          <p:cNvPr id="13" name="Text Box 12"/>
          <p:cNvSpPr txBox="1"/>
          <p:nvPr/>
        </p:nvSpPr>
        <p:spPr>
          <a:xfrm>
            <a:off x="2987040" y="858520"/>
            <a:ext cx="3337560" cy="252730"/>
          </a:xfrm>
          <a:prstGeom prst="rect">
            <a:avLst/>
          </a:prstGeom>
          <a:noFill/>
        </p:spPr>
        <p:txBody>
          <a:bodyPr wrap="square" rtlCol="0">
            <a:noAutofit/>
          </a:bodyPr>
          <a:p>
            <a:endParaRPr lang="en-US"/>
          </a:p>
        </p:txBody>
      </p:sp>
      <p:pic>
        <p:nvPicPr>
          <p:cNvPr id="4" name="Picture 3" descr="arch"/>
          <p:cNvPicPr>
            <a:picLocks noChangeAspect="1"/>
          </p:cNvPicPr>
          <p:nvPr/>
        </p:nvPicPr>
        <p:blipFill>
          <a:blip r:embed="rId1"/>
          <a:stretch>
            <a:fillRect/>
          </a:stretch>
        </p:blipFill>
        <p:spPr>
          <a:xfrm>
            <a:off x="987425" y="1080135"/>
            <a:ext cx="7041515" cy="34461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Proposed Architecture - Description</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a:xfrm>
            <a:off x="2667000" y="4767263"/>
            <a:ext cx="4267200" cy="376237"/>
          </a:xfrm>
        </p:spPr>
        <p:txBody>
          <a:bodyPr/>
          <a:lstStyle/>
          <a:p>
            <a:pPr>
              <a:defRPr/>
            </a:pPr>
            <a:r>
              <a:rPr lang="en-US" sz="1200" dirty="0">
                <a:latin typeface="Times New Roman" panose="02020603050405020304" pitchFamily="18" charset="0"/>
                <a:cs typeface="Times New Roman" panose="02020603050405020304" pitchFamily="18" charset="0"/>
              </a:rPr>
              <a:t>CGB1121 – PYTHON PROGRAMMING –PROJECT REVIEW 2</a:t>
            </a:r>
            <a:endParaRPr lang="en-US" sz="1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fld>
            <a:endParaRPr lang="en-US" altLang="en-US"/>
          </a:p>
        </p:txBody>
      </p:sp>
      <p:sp>
        <p:nvSpPr>
          <p:cNvPr id="3" name="Content Placeholder 2"/>
          <p:cNvSpPr>
            <a:spLocks noGrp="1"/>
          </p:cNvSpPr>
          <p:nvPr>
            <p:ph sz="quarter" idx="1"/>
          </p:nvPr>
        </p:nvSpPr>
        <p:spPr/>
        <p:txBody>
          <a:bodyPr>
            <a:normAutofit fontScale="92500" lnSpcReduction="20000"/>
          </a:bodyPr>
          <a:lstStyle/>
          <a:p>
            <a:pPr marL="0" indent="0">
              <a:buNone/>
            </a:pPr>
            <a:r>
              <a:rPr lang="en-US" dirty="0">
                <a:latin typeface="Times New Roman" panose="02020603050405020304" pitchFamily="18" charset="0"/>
                <a:cs typeface="Times New Roman" panose="02020603050405020304" pitchFamily="18" charset="0"/>
              </a:rPr>
              <a:t>The proposed architecture of the Online Shopping Cart Manager consists of three main components: user interface, processing unit, and data storage. The user interface allows users to interact with the system by selecting options such as adding or removing products. The processing unit handles the logic of the program using Python concepts like loops, functions, and conditional statements. Data storage is managed using lists to store product names, quantities, and prices. When the user performs an action, the system processes the input, updates the cart, and displays the updated total amount. This simple architecture ensures easy execution and smooth functioning of the application.</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List of Modules</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a:xfrm>
            <a:off x="2819400" y="4767263"/>
            <a:ext cx="4343400" cy="376237"/>
          </a:xfrm>
        </p:spPr>
        <p:txBody>
          <a:bodyPr/>
          <a:lstStyle/>
          <a:p>
            <a:pPr>
              <a:defRPr/>
            </a:pPr>
            <a:r>
              <a:rPr lang="en-US" sz="1200" dirty="0">
                <a:latin typeface="Times New Roman" panose="02020603050405020304" pitchFamily="18" charset="0"/>
                <a:cs typeface="Times New Roman" panose="02020603050405020304" pitchFamily="18" charset="0"/>
              </a:rPr>
              <a:t>CGB1121 – PYTHON PROGRAMMING –PROJECT REVIEW 2</a:t>
            </a:r>
            <a:endParaRPr lang="en-US" sz="1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fld>
            <a:endParaRPr lang="en-US" altLang="en-US"/>
          </a:p>
        </p:txBody>
      </p:sp>
      <p:sp>
        <p:nvSpPr>
          <p:cNvPr id="3" name="Content Placeholder 2"/>
          <p:cNvSpPr>
            <a:spLocks noGrp="1"/>
          </p:cNvSpPr>
          <p:nvPr>
            <p:ph sz="quarter" idx="1"/>
          </p:nvPr>
        </p:nvSpPr>
        <p:spPr/>
        <p:txBody>
          <a:bodyPr>
            <a:normAutofit fontScale="92500" lnSpcReduction="10000"/>
          </a:bodyPr>
          <a:lstStyle/>
          <a:p>
            <a:pPr marL="0" indent="0">
              <a:buNone/>
            </a:pPr>
            <a:r>
              <a:rPr lang="en-US" dirty="0">
                <a:latin typeface="Times New Roman" panose="02020603050405020304" pitchFamily="18" charset="0"/>
                <a:cs typeface="Times New Roman" panose="02020603050405020304" pitchFamily="18" charset="0"/>
              </a:rPr>
              <a:t>User Interface Module – Displays menu options and collects user input.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➤Product Management Module – Stores available product details such as name and price.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➤Cart Management Module – Handles adding, removing, and updating items in the cart.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➤Billing Module – Calculates the total cost based on selected items and quantity.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➤Display Module – Shows the updated cart details and final bill to the user.</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vert="horz" anchor="b" anchorCtr="0">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Description of Modules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2667000" y="4767263"/>
            <a:ext cx="4343400" cy="274320"/>
          </a:xfrm>
        </p:spPr>
        <p:txBody>
          <a:bodyPr/>
          <a:lstStyle/>
          <a:p>
            <a:pPr>
              <a:defRPr/>
            </a:pPr>
            <a:r>
              <a:rPr lang="en-US" sz="1200" dirty="0">
                <a:latin typeface="Times New Roman" panose="02020603050405020304" pitchFamily="18" charset="0"/>
                <a:cs typeface="Times New Roman" panose="02020603050405020304" pitchFamily="18" charset="0"/>
              </a:rPr>
              <a:t>CGB1121 – PYTHON PROGRAMMING –PROJECT REVIEW 2</a:t>
            </a:r>
            <a:endParaRPr lang="en-US" sz="1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fld>
            <a:endParaRPr lang="en-US" altLang="en-US"/>
          </a:p>
        </p:txBody>
      </p:sp>
      <p:sp>
        <p:nvSpPr>
          <p:cNvPr id="5" name="Content Placeholder 4"/>
          <p:cNvSpPr>
            <a:spLocks noGrp="1"/>
          </p:cNvSpPr>
          <p:nvPr>
            <p:ph sz="quarter" idx="1"/>
          </p:nvPr>
        </p:nvSpPr>
        <p:spPr/>
        <p:txBody>
          <a:bodyPr>
            <a:normAutofit fontScale="92500" lnSpcReduction="20000"/>
          </a:bodyPr>
          <a:lstStyle/>
          <a:p>
            <a:pPr marL="0" indent="0">
              <a:buNone/>
            </a:pPr>
            <a:r>
              <a:rPr lang="en-US" dirty="0">
                <a:latin typeface="Times New Roman" panose="02020603050405020304" pitchFamily="18" charset="0"/>
                <a:cs typeface="Times New Roman" panose="02020603050405020304" pitchFamily="18" charset="0"/>
              </a:rPr>
              <a:t>The Online Shopping Cart Manager consists of several important modules that work together to perform the shopping operations. The User Interface Module is responsible for displaying the menu and collecting input from the user. The Product Management Module stores product details such as names and prices using lists. The Cart Management Module handles operations like adding, removing, and updating items in the cart. The Billing Module calculates the total cost based on the selected products and their quantities. Finally, the Display Module shows the updated cart details and the final bill to the user. All these modules together ensure smooth and efficient functioning of the system</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vert="horz" anchor="b" anchorCtr="0">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Results and Discussion</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2667000" y="4767263"/>
            <a:ext cx="4343400" cy="274320"/>
          </a:xfrm>
        </p:spPr>
        <p:txBody>
          <a:bodyPr/>
          <a:lstStyle/>
          <a:p>
            <a:pPr>
              <a:defRPr/>
            </a:pPr>
            <a:r>
              <a:rPr lang="en-US" sz="1200" dirty="0">
                <a:latin typeface="Times New Roman" panose="02020603050405020304" pitchFamily="18" charset="0"/>
                <a:cs typeface="Times New Roman" panose="02020603050405020304" pitchFamily="18" charset="0"/>
              </a:rPr>
              <a:t>CGB1121 – PYTHON PROGRAMMING –PROJECT REVIEW 2</a:t>
            </a:r>
            <a:endParaRPr lang="en-US" sz="1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fld>
            <a:endParaRPr lang="en-US" altLang="en-US"/>
          </a:p>
        </p:txBody>
      </p:sp>
      <p:sp>
        <p:nvSpPr>
          <p:cNvPr id="5" name="Content Placeholder 4"/>
          <p:cNvSpPr>
            <a:spLocks noGrp="1"/>
          </p:cNvSpPr>
          <p:nvPr>
            <p:ph sz="quarter" idx="1"/>
          </p:nvPr>
        </p:nvSpPr>
        <p:spPr>
          <a:xfrm>
            <a:off x="457200" y="914400"/>
            <a:ext cx="4114800" cy="3703320"/>
          </a:xfrm>
        </p:spPr>
        <p:txBody>
          <a:bodyPr/>
          <a:lstStyle/>
          <a:p>
            <a:pPr marL="0" indent="0">
              <a:buNone/>
            </a:pPr>
            <a:r>
              <a:rPr lang="en-US" b="1" dirty="0">
                <a:latin typeface="Times New Roman" panose="02020603050405020304" pitchFamily="18" charset="0"/>
                <a:cs typeface="Times New Roman" panose="02020603050405020304" pitchFamily="18" charset="0"/>
              </a:rPr>
              <a:t>Output Screenshot:</a:t>
            </a:r>
            <a:endParaRPr lang="en-US" b="1" dirty="0">
              <a:latin typeface="Times New Roman" panose="02020603050405020304" pitchFamily="18" charset="0"/>
              <a:cs typeface="Times New Roman" panose="02020603050405020304" pitchFamily="18" charset="0"/>
            </a:endParaRPr>
          </a:p>
        </p:txBody>
      </p:sp>
      <p:sp>
        <p:nvSpPr>
          <p:cNvPr id="6" name="Content Placeholder 4"/>
          <p:cNvSpPr txBox="1"/>
          <p:nvPr/>
        </p:nvSpPr>
        <p:spPr>
          <a:xfrm>
            <a:off x="4724400" y="971550"/>
            <a:ext cx="3962400" cy="3703320"/>
          </a:xfrm>
          <a:prstGeom prst="rect">
            <a:avLst/>
          </a:prstGeom>
        </p:spPr>
        <p:txBody>
          <a:bodyPr vert="horz">
            <a:normAutofit fontScale="62500" lnSpcReduction="20000"/>
          </a:bodyPr>
          <a:lstStyle>
            <a:lvl1pPr marL="274320" indent="-274320" algn="l" rtl="0" eaLnBrk="1" latinLnBrk="0" hangingPunct="1">
              <a:spcBef>
                <a:spcPts val="600"/>
              </a:spcBef>
              <a:buClr>
                <a:schemeClr val="accent1"/>
              </a:buClr>
              <a:buSzPct val="76000"/>
              <a:buFont typeface="Wingdings 3" panose="05040102010807070707"/>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panose="05040102010807070707"/>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panose="05040102010807070707"/>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panose="05000000000000000000"/>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panose="05000000000000000000"/>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marL="0" indent="0">
              <a:buNone/>
            </a:pPr>
            <a:r>
              <a:rPr lang="en-US" b="1" dirty="0">
                <a:latin typeface="Times New Roman" panose="02020603050405020304" pitchFamily="18" charset="0"/>
                <a:cs typeface="Times New Roman" panose="02020603050405020304" pitchFamily="18" charset="0"/>
              </a:rPr>
              <a:t>Description:</a:t>
            </a:r>
            <a:endParaRPr lang="en-US" b="1" dirty="0">
              <a:latin typeface="Times New Roman" panose="02020603050405020304" pitchFamily="18" charset="0"/>
              <a:cs typeface="Times New Roman" panose="02020603050405020304" pitchFamily="18" charset="0"/>
            </a:endParaRPr>
          </a:p>
          <a:p>
            <a:r>
              <a:rPr lang="en-US" sz="2700" dirty="0"/>
              <a:t>This is a </a:t>
            </a:r>
            <a:r>
              <a:rPr lang="en-US" sz="2700" b="1" dirty="0"/>
              <a:t>GUI-based Online Shopping Cart Manager</a:t>
            </a:r>
            <a:r>
              <a:rPr lang="en-US" sz="2700" dirty="0"/>
              <a:t> application.</a:t>
            </a:r>
            <a:endParaRPr lang="en-US" sz="2700" dirty="0"/>
          </a:p>
          <a:p>
            <a:r>
              <a:rPr lang="en-US" sz="2700" dirty="0"/>
              <a:t>Users can view products (Shoes, Bag, Watch) with prices. </a:t>
            </a:r>
            <a:endParaRPr lang="en-US" sz="2700" dirty="0"/>
          </a:p>
          <a:p>
            <a:r>
              <a:rPr lang="en-US" sz="2700" dirty="0"/>
              <a:t>Click </a:t>
            </a:r>
            <a:r>
              <a:rPr lang="en-US" sz="2700" b="1" dirty="0"/>
              <a:t>“Add to Cart”</a:t>
            </a:r>
            <a:r>
              <a:rPr lang="en-US" sz="2700" dirty="0"/>
              <a:t> to add items. </a:t>
            </a:r>
            <a:endParaRPr lang="en-US" sz="2700" dirty="0"/>
          </a:p>
          <a:p>
            <a:r>
              <a:rPr lang="en-US" sz="2700" dirty="0"/>
              <a:t>Selected items appear in the </a:t>
            </a:r>
            <a:r>
              <a:rPr lang="en-US" sz="2700" b="1" dirty="0"/>
              <a:t>Cart</a:t>
            </a:r>
            <a:r>
              <a:rPr lang="en-US" sz="2700" dirty="0"/>
              <a:t> section. </a:t>
            </a:r>
            <a:endParaRPr lang="en-US" sz="2700" dirty="0"/>
          </a:p>
          <a:p>
            <a:r>
              <a:rPr lang="en-US" sz="2700" dirty="0"/>
              <a:t>Items can be removed using </a:t>
            </a:r>
            <a:r>
              <a:rPr lang="en-US" sz="2700" b="1" dirty="0"/>
              <a:t>“Remove Selected Item”</a:t>
            </a:r>
            <a:r>
              <a:rPr lang="en-US" sz="2700" dirty="0"/>
              <a:t>. </a:t>
            </a:r>
            <a:endParaRPr lang="en-US" sz="2700" dirty="0"/>
          </a:p>
          <a:p>
            <a:r>
              <a:rPr lang="en-US" sz="2700" dirty="0"/>
              <a:t>The </a:t>
            </a:r>
            <a:r>
              <a:rPr lang="en-US" sz="2700" b="1" dirty="0"/>
              <a:t>Total amount</a:t>
            </a:r>
            <a:r>
              <a:rPr lang="en-US" sz="2700" dirty="0"/>
              <a:t> updates automatically. </a:t>
            </a:r>
            <a:endParaRPr lang="en-US" sz="2700" dirty="0"/>
          </a:p>
          <a:p>
            <a:r>
              <a:rPr lang="en-US" sz="2700" b="1" dirty="0"/>
              <a:t>“Place Order”</a:t>
            </a:r>
            <a:r>
              <a:rPr lang="en-US" sz="2700" dirty="0"/>
              <a:t> is used to complete the purchase.</a:t>
            </a:r>
            <a:endParaRPr lang="en-US" sz="2700" dirty="0"/>
          </a:p>
          <a:p>
            <a:pPr marL="0" indent="0">
              <a:buNone/>
            </a:pPr>
            <a:endParaRPr lang="en-US" b="1"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8600" y="1428750"/>
            <a:ext cx="4038600" cy="31889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vert="horz" anchor="b" anchorCtr="0">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Results and Discussion(Cont..)</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2667000" y="4767263"/>
            <a:ext cx="4343400" cy="274320"/>
          </a:xfrm>
        </p:spPr>
        <p:txBody>
          <a:bodyPr/>
          <a:lstStyle/>
          <a:p>
            <a:pPr>
              <a:defRPr/>
            </a:pPr>
            <a:r>
              <a:rPr lang="en-US" sz="1200" dirty="0">
                <a:latin typeface="Times New Roman" panose="02020603050405020304" pitchFamily="18" charset="0"/>
                <a:cs typeface="Times New Roman" panose="02020603050405020304" pitchFamily="18" charset="0"/>
              </a:rPr>
              <a:t>CGB1121 – PYTHON PROGRAMMING –PROJECT REVIEW 2</a:t>
            </a:r>
            <a:endParaRPr lang="en-US" sz="1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fld>
            <a:endParaRPr lang="en-US" altLang="en-US"/>
          </a:p>
        </p:txBody>
      </p:sp>
      <p:sp>
        <p:nvSpPr>
          <p:cNvPr id="5" name="Content Placeholder 4"/>
          <p:cNvSpPr>
            <a:spLocks noGrp="1"/>
          </p:cNvSpPr>
          <p:nvPr>
            <p:ph sz="quarter" idx="1"/>
          </p:nvPr>
        </p:nvSpPr>
        <p:spPr>
          <a:xfrm>
            <a:off x="381000" y="895350"/>
            <a:ext cx="4114800" cy="3703320"/>
          </a:xfrm>
        </p:spPr>
        <p:txBody>
          <a:bodyPr/>
          <a:lstStyle/>
          <a:p>
            <a:pPr marL="0" indent="0">
              <a:buNone/>
            </a:pPr>
            <a:r>
              <a:rPr lang="en-US" b="1" dirty="0">
                <a:latin typeface="Times New Roman" panose="02020603050405020304" pitchFamily="18" charset="0"/>
                <a:cs typeface="Times New Roman" panose="02020603050405020304" pitchFamily="18" charset="0"/>
              </a:rPr>
              <a:t>Output Screenshot:</a:t>
            </a: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p:txBody>
      </p:sp>
      <p:sp>
        <p:nvSpPr>
          <p:cNvPr id="6" name="Content Placeholder 4"/>
          <p:cNvSpPr txBox="1"/>
          <p:nvPr/>
        </p:nvSpPr>
        <p:spPr>
          <a:xfrm>
            <a:off x="4724400" y="1064260"/>
            <a:ext cx="3962400" cy="3703320"/>
          </a:xfrm>
          <a:prstGeom prst="rect">
            <a:avLst/>
          </a:prstGeom>
        </p:spPr>
        <p:txBody>
          <a:bodyPr vert="horz">
            <a:normAutofit fontScale="70000" lnSpcReduction="20000"/>
          </a:bodyPr>
          <a:lstStyle>
            <a:lvl1pPr marL="274320" indent="-274320" algn="l" rtl="0" eaLnBrk="1" latinLnBrk="0" hangingPunct="1">
              <a:spcBef>
                <a:spcPts val="600"/>
              </a:spcBef>
              <a:buClr>
                <a:schemeClr val="accent1"/>
              </a:buClr>
              <a:buSzPct val="76000"/>
              <a:buFont typeface="Wingdings 3" panose="05040102010807070707"/>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panose="05040102010807070707"/>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panose="05040102010807070707"/>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panose="05000000000000000000"/>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panose="05000000000000000000"/>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marL="0" indent="0">
              <a:buNone/>
            </a:pPr>
            <a:r>
              <a:rPr lang="en-US" b="1" dirty="0">
                <a:latin typeface="Times New Roman" panose="02020603050405020304" pitchFamily="18" charset="0"/>
                <a:cs typeface="Times New Roman" panose="02020603050405020304" pitchFamily="18" charset="0"/>
              </a:rPr>
              <a:t>Description:</a:t>
            </a:r>
            <a:endParaRPr lang="en-US" b="1" dirty="0">
              <a:latin typeface="Times New Roman" panose="02020603050405020304" pitchFamily="18" charset="0"/>
              <a:cs typeface="Times New Roman" panose="02020603050405020304" pitchFamily="18" charset="0"/>
            </a:endParaRPr>
          </a:p>
          <a:p>
            <a:r>
              <a:rPr lang="en-US" dirty="0"/>
              <a:t>This image shows the </a:t>
            </a:r>
            <a:r>
              <a:rPr lang="en-US" b="1" dirty="0"/>
              <a:t>Online Shopping Cart Manager</a:t>
            </a:r>
            <a:r>
              <a:rPr lang="en-US" dirty="0"/>
              <a:t> after items are added.</a:t>
            </a:r>
            <a:endParaRPr lang="en-US" dirty="0"/>
          </a:p>
          <a:p>
            <a:r>
              <a:rPr lang="en-US" dirty="0"/>
              <a:t>All products (Shoes, Bag, Watch) are added to the </a:t>
            </a:r>
            <a:r>
              <a:rPr lang="en-US" b="1" dirty="0"/>
              <a:t>Cart</a:t>
            </a:r>
            <a:r>
              <a:rPr lang="en-US" dirty="0"/>
              <a:t>. </a:t>
            </a:r>
            <a:endParaRPr lang="en-US" dirty="0"/>
          </a:p>
          <a:p>
            <a:r>
              <a:rPr lang="en-US" dirty="0"/>
              <a:t>The cart displays each item with its price. </a:t>
            </a:r>
            <a:endParaRPr lang="en-US" dirty="0"/>
          </a:p>
          <a:p>
            <a:r>
              <a:rPr lang="en-US" dirty="0"/>
              <a:t>The </a:t>
            </a:r>
            <a:r>
              <a:rPr lang="en-US" b="1" dirty="0"/>
              <a:t>Total amount</a:t>
            </a:r>
            <a:r>
              <a:rPr lang="en-US" dirty="0"/>
              <a:t> is updated to </a:t>
            </a:r>
            <a:r>
              <a:rPr lang="en-US" b="1" dirty="0"/>
              <a:t>₹3000</a:t>
            </a:r>
            <a:r>
              <a:rPr lang="en-US" dirty="0"/>
              <a:t>. </a:t>
            </a:r>
            <a:endParaRPr lang="en-US" dirty="0"/>
          </a:p>
          <a:p>
            <a:r>
              <a:rPr lang="en-US" dirty="0"/>
              <a:t>Users can remove items using </a:t>
            </a:r>
            <a:r>
              <a:rPr lang="en-US" b="1" dirty="0"/>
              <a:t>“Remove Selected Item”</a:t>
            </a:r>
            <a:r>
              <a:rPr lang="en-US" dirty="0"/>
              <a:t>. </a:t>
            </a:r>
            <a:endParaRPr lang="en-US" dirty="0"/>
          </a:p>
          <a:p>
            <a:r>
              <a:rPr lang="en-US" dirty="0"/>
              <a:t>The </a:t>
            </a:r>
            <a:r>
              <a:rPr lang="en-US" b="1" dirty="0"/>
              <a:t>“Place Order”</a:t>
            </a:r>
            <a:r>
              <a:rPr lang="en-US" dirty="0"/>
              <a:t> button is used to complete the purchase.</a:t>
            </a:r>
            <a:endParaRPr lang="en-US" dirty="0"/>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52400" y="1440180"/>
            <a:ext cx="3962400" cy="32346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16039"/>
            <a:ext cx="8229600" cy="742950"/>
          </a:xfrm>
          <a:solidFill>
            <a:schemeClr val="bg2">
              <a:lumMod val="75000"/>
            </a:schemeClr>
          </a:solidFill>
        </p:spPr>
        <p:txBody>
          <a:bodyPr vert="horz" anchor="b" anchorCtr="0">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Results and Discussion(Cont..)</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2667000" y="4767263"/>
            <a:ext cx="4343400" cy="274320"/>
          </a:xfrm>
        </p:spPr>
        <p:txBody>
          <a:bodyPr/>
          <a:lstStyle/>
          <a:p>
            <a:pPr>
              <a:defRPr/>
            </a:pPr>
            <a:r>
              <a:rPr lang="en-US" sz="1200" dirty="0">
                <a:latin typeface="Times New Roman" panose="02020603050405020304" pitchFamily="18" charset="0"/>
                <a:cs typeface="Times New Roman" panose="02020603050405020304" pitchFamily="18" charset="0"/>
              </a:rPr>
              <a:t>CGB1121 – PYTHON PROGRAMMING –PROJECT REVIEW 2</a:t>
            </a:r>
            <a:endParaRPr lang="en-US" sz="1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fld>
            <a:endParaRPr lang="en-US" altLang="en-US"/>
          </a:p>
        </p:txBody>
      </p:sp>
      <p:sp>
        <p:nvSpPr>
          <p:cNvPr id="5" name="Content Placeholder 4"/>
          <p:cNvSpPr>
            <a:spLocks noGrp="1"/>
          </p:cNvSpPr>
          <p:nvPr>
            <p:ph sz="quarter" idx="1"/>
          </p:nvPr>
        </p:nvSpPr>
        <p:spPr>
          <a:xfrm>
            <a:off x="381000" y="895350"/>
            <a:ext cx="4114800" cy="3703320"/>
          </a:xfrm>
        </p:spPr>
        <p:txBody>
          <a:bodyPr/>
          <a:lstStyle/>
          <a:p>
            <a:pPr marL="0" indent="0">
              <a:buNone/>
            </a:pPr>
            <a:r>
              <a:rPr lang="en-US" b="1" dirty="0">
                <a:latin typeface="Times New Roman" panose="02020603050405020304" pitchFamily="18" charset="0"/>
                <a:cs typeface="Times New Roman" panose="02020603050405020304" pitchFamily="18" charset="0"/>
              </a:rPr>
              <a:t>Output Screenshot:</a:t>
            </a: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p:txBody>
      </p:sp>
      <p:sp>
        <p:nvSpPr>
          <p:cNvPr id="6" name="Content Placeholder 4"/>
          <p:cNvSpPr txBox="1"/>
          <p:nvPr/>
        </p:nvSpPr>
        <p:spPr>
          <a:xfrm>
            <a:off x="4724400" y="971550"/>
            <a:ext cx="3962400" cy="3703320"/>
          </a:xfrm>
          <a:prstGeom prst="rect">
            <a:avLst/>
          </a:prstGeom>
        </p:spPr>
        <p:txBody>
          <a:bodyPr vert="horz">
            <a:normAutofit fontScale="60000"/>
          </a:bodyPr>
          <a:lstStyle>
            <a:lvl1pPr marL="274320" indent="-274320" algn="l" rtl="0" eaLnBrk="1" latinLnBrk="0" hangingPunct="1">
              <a:spcBef>
                <a:spcPts val="600"/>
              </a:spcBef>
              <a:buClr>
                <a:schemeClr val="accent1"/>
              </a:buClr>
              <a:buSzPct val="76000"/>
              <a:buFont typeface="Wingdings 3" panose="05040102010807070707"/>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panose="05040102010807070707"/>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panose="05040102010807070707"/>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panose="05000000000000000000"/>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panose="05000000000000000000"/>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marL="0" indent="0">
              <a:buNone/>
            </a:pPr>
            <a:r>
              <a:rPr lang="en-US" b="1" dirty="0">
                <a:latin typeface="Times New Roman" panose="02020603050405020304" pitchFamily="18" charset="0"/>
                <a:cs typeface="Times New Roman" panose="02020603050405020304" pitchFamily="18" charset="0"/>
              </a:rPr>
              <a:t>Description:</a:t>
            </a:r>
            <a:endParaRPr lang="en-US" b="1" dirty="0">
              <a:latin typeface="Times New Roman" panose="02020603050405020304" pitchFamily="18" charset="0"/>
              <a:cs typeface="Times New Roman" panose="02020603050405020304" pitchFamily="18" charset="0"/>
            </a:endParaRPr>
          </a:p>
          <a:p>
            <a:pPr marL="0" indent="0">
              <a:buNone/>
            </a:pPr>
            <a:r>
              <a:rPr lang="en-US" dirty="0">
                <a:sym typeface="+mn-ea"/>
              </a:rPr>
              <a:t>This image shows the </a:t>
            </a:r>
            <a:r>
              <a:rPr lang="en-US" b="1" dirty="0">
                <a:sym typeface="+mn-ea"/>
              </a:rPr>
              <a:t>Online Shopping Cart Manager</a:t>
            </a:r>
            <a:r>
              <a:rPr lang="en-US" dirty="0">
                <a:sym typeface="+mn-ea"/>
              </a:rPr>
              <a:t> after items are added.</a:t>
            </a:r>
            <a:endParaRPr lang="en-US" dirty="0"/>
          </a:p>
          <a:p>
            <a:pPr marL="0" indent="0">
              <a:buNone/>
            </a:pPr>
            <a:r>
              <a:rPr lang="en-US" dirty="0">
                <a:sym typeface="+mn-ea"/>
              </a:rPr>
              <a:t>All products (Shoes, Bag, Watch) are added to the </a:t>
            </a:r>
            <a:r>
              <a:rPr lang="en-US" b="1" dirty="0">
                <a:sym typeface="+mn-ea"/>
              </a:rPr>
              <a:t>Cart</a:t>
            </a:r>
            <a:r>
              <a:rPr lang="en-US" dirty="0">
                <a:sym typeface="+mn-ea"/>
              </a:rPr>
              <a:t>. </a:t>
            </a:r>
            <a:endParaRPr lang="en-US" dirty="0"/>
          </a:p>
          <a:p>
            <a:pPr marL="0" indent="0">
              <a:buNone/>
            </a:pPr>
            <a:r>
              <a:rPr lang="en-US" dirty="0">
                <a:sym typeface="+mn-ea"/>
              </a:rPr>
              <a:t>The cart displays each item with its price. </a:t>
            </a:r>
            <a:endParaRPr lang="en-US" dirty="0"/>
          </a:p>
          <a:p>
            <a:pPr marL="0" indent="0">
              <a:buNone/>
            </a:pPr>
            <a:r>
              <a:rPr lang="en-US" dirty="0">
                <a:sym typeface="+mn-ea"/>
              </a:rPr>
              <a:t>The </a:t>
            </a:r>
            <a:r>
              <a:rPr lang="en-US" b="1" dirty="0">
                <a:sym typeface="+mn-ea"/>
              </a:rPr>
              <a:t>Total amount</a:t>
            </a:r>
            <a:r>
              <a:rPr lang="en-US" dirty="0">
                <a:sym typeface="+mn-ea"/>
              </a:rPr>
              <a:t> is updated to </a:t>
            </a:r>
            <a:r>
              <a:rPr lang="en-US" b="1" dirty="0">
                <a:sym typeface="+mn-ea"/>
              </a:rPr>
              <a:t>₹3000</a:t>
            </a:r>
            <a:r>
              <a:rPr lang="en-US" dirty="0">
                <a:sym typeface="+mn-ea"/>
              </a:rPr>
              <a:t>. </a:t>
            </a:r>
            <a:endParaRPr lang="en-US" dirty="0"/>
          </a:p>
          <a:p>
            <a:pPr marL="0" indent="0">
              <a:buNone/>
            </a:pPr>
            <a:r>
              <a:rPr lang="en-US" dirty="0">
                <a:sym typeface="+mn-ea"/>
              </a:rPr>
              <a:t>Users can remove items using </a:t>
            </a:r>
            <a:r>
              <a:rPr lang="en-US" b="1" dirty="0">
                <a:sym typeface="+mn-ea"/>
              </a:rPr>
              <a:t>“Remove Selected Item”</a:t>
            </a:r>
            <a:r>
              <a:rPr lang="en-US" dirty="0">
                <a:sym typeface="+mn-ea"/>
              </a:rPr>
              <a:t>. </a:t>
            </a:r>
            <a:endParaRPr lang="en-US" dirty="0"/>
          </a:p>
          <a:p>
            <a:pPr marL="0" indent="0">
              <a:buNone/>
            </a:pPr>
            <a:r>
              <a:rPr lang="en-US" dirty="0">
                <a:sym typeface="+mn-ea"/>
              </a:rPr>
              <a:t>The </a:t>
            </a:r>
            <a:r>
              <a:rPr lang="en-US" b="1" dirty="0">
                <a:sym typeface="+mn-ea"/>
              </a:rPr>
              <a:t>“Place Order”</a:t>
            </a:r>
            <a:r>
              <a:rPr lang="en-US" dirty="0">
                <a:sym typeface="+mn-ea"/>
              </a:rPr>
              <a:t> button is used to complete the purchase.</a:t>
            </a:r>
            <a:endParaRPr lang="en-US" dirty="0"/>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8600" y="1440180"/>
            <a:ext cx="3886200" cy="3196590"/>
          </a:xfrm>
          <a:prstGeom prst="rect">
            <a:avLst/>
          </a:prstGeom>
        </p:spPr>
      </p:pic>
      <p:sp>
        <p:nvSpPr>
          <p:cNvPr id="13" name="Rectangle 5"/>
          <p:cNvSpPr>
            <a:spLocks noChangeArrowheads="1"/>
          </p:cNvSpPr>
          <p:nvPr/>
        </p:nvSpPr>
        <p:spPr bwMode="auto">
          <a:xfrm>
            <a:off x="0" y="-323165"/>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457200" marR="0" lvl="1" indent="0" algn="l" defTabSz="914400" rtl="0" eaLnBrk="0" fontAlgn="base" latinLnBrk="0" hangingPunct="0">
              <a:lnSpc>
                <a:spcPct val="100000"/>
              </a:lnSpc>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vert="horz" anchor="b" anchorCtr="0">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Conclusion</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2667000" y="4767263"/>
            <a:ext cx="4343400" cy="274320"/>
          </a:xfrm>
        </p:spPr>
        <p:txBody>
          <a:bodyPr/>
          <a:lstStyle/>
          <a:p>
            <a:pPr>
              <a:defRPr/>
            </a:pPr>
            <a:r>
              <a:rPr lang="en-US" sz="1200" dirty="0">
                <a:latin typeface="Times New Roman" panose="02020603050405020304" pitchFamily="18" charset="0"/>
                <a:cs typeface="Times New Roman" panose="02020603050405020304" pitchFamily="18" charset="0"/>
              </a:rPr>
              <a:t>CGB1121 – PYTHON PROGRAMMING –PROJECT REVIEW 2</a:t>
            </a:r>
            <a:endParaRPr lang="en-US" sz="1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fld>
            <a:endParaRPr lang="en-US" altLang="en-US"/>
          </a:p>
        </p:txBody>
      </p:sp>
      <p:sp>
        <p:nvSpPr>
          <p:cNvPr id="5" name="Content Placeholder 4"/>
          <p:cNvSpPr>
            <a:spLocks noGrp="1"/>
          </p:cNvSpPr>
          <p:nvPr>
            <p:ph sz="quarter" idx="1"/>
          </p:nvPr>
        </p:nvSpPr>
        <p:spPr/>
        <p:txBody>
          <a:bodyPr>
            <a:normAutofit fontScale="92500" lnSpcReduction="20000"/>
          </a:bodyPr>
          <a:lstStyle/>
          <a:p>
            <a:pPr marL="0" indent="0">
              <a:buNone/>
            </a:pPr>
            <a:r>
              <a:rPr lang="en-US" dirty="0">
                <a:latin typeface="Times New Roman" panose="02020603050405020304" pitchFamily="18" charset="0"/>
                <a:cs typeface="Times New Roman" panose="02020603050405020304" pitchFamily="18" charset="0"/>
              </a:rPr>
              <a:t>The Online Shopping Cart Manager project successfully demonstrates the basic working of an e-commerce system using Python and </a:t>
            </a:r>
            <a:r>
              <a:rPr lang="en-US" dirty="0" err="1">
                <a:latin typeface="Times New Roman" panose="02020603050405020304" pitchFamily="18" charset="0"/>
                <a:cs typeface="Times New Roman" panose="02020603050405020304" pitchFamily="18" charset="0"/>
              </a:rPr>
              <a:t>Tkinter</a:t>
            </a:r>
            <a:r>
              <a:rPr lang="en-US" dirty="0">
                <a:latin typeface="Times New Roman" panose="02020603050405020304" pitchFamily="18" charset="0"/>
                <a:cs typeface="Times New Roman" panose="02020603050405020304" pitchFamily="18" charset="0"/>
              </a:rPr>
              <a:t> GUI. It allows users to add products, manage cart items, and generate a bill in a simple and user-friendly </a:t>
            </a:r>
            <a:r>
              <a:rPr lang="en-US" dirty="0" err="1">
                <a:latin typeface="Times New Roman" panose="02020603050405020304" pitchFamily="18" charset="0"/>
                <a:cs typeface="Times New Roman" panose="02020603050405020304" pitchFamily="18" charset="0"/>
              </a:rPr>
              <a:t>interface.This</a:t>
            </a:r>
            <a:r>
              <a:rPr lang="en-US" dirty="0">
                <a:latin typeface="Times New Roman" panose="02020603050405020304" pitchFamily="18" charset="0"/>
                <a:cs typeface="Times New Roman" panose="02020603050405020304" pitchFamily="18" charset="0"/>
              </a:rPr>
              <a:t> project helped in understanding important programming concepts such as data handling, functions, and user interaction through graphical interfaces. It also shows how frontend and backend logic work together in real-world </a:t>
            </a:r>
            <a:r>
              <a:rPr lang="en-US" dirty="0" err="1">
                <a:latin typeface="Times New Roman" panose="02020603050405020304" pitchFamily="18" charset="0"/>
                <a:cs typeface="Times New Roman" panose="02020603050405020304" pitchFamily="18" charset="0"/>
              </a:rPr>
              <a:t>applications.Overall</a:t>
            </a:r>
            <a:r>
              <a:rPr lang="en-US" dirty="0">
                <a:latin typeface="Times New Roman" panose="02020603050405020304" pitchFamily="18" charset="0"/>
                <a:cs typeface="Times New Roman" panose="02020603050405020304" pitchFamily="18" charset="0"/>
              </a:rPr>
              <a:t>, this project provides a strong foundation for developing more advanced shopping applications and improves practical knowledge in Python programming.</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solidFill>
            <a:schemeClr val="bg2">
              <a:lumMod val="75000"/>
            </a:schemeClr>
          </a:solidFill>
        </p:spPr>
        <p:txBody>
          <a:bodyPr>
            <a:normAutofit fontScale="90000"/>
          </a:bodyPr>
          <a:lstStyle/>
          <a:p>
            <a:pPr algn="ctr"/>
            <a:r>
              <a:rPr lang="en-IN" sz="4400" b="1" dirty="0">
                <a:solidFill>
                  <a:schemeClr val="tx1"/>
                </a:solidFill>
                <a:latin typeface="Times New Roman" panose="02020603050405020304" pitchFamily="18" charset="0"/>
                <a:cs typeface="Times New Roman" panose="02020603050405020304" pitchFamily="18" charset="0"/>
              </a:rPr>
              <a:t>Thank  You</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2743200" y="4767263"/>
            <a:ext cx="4340352" cy="376237"/>
          </a:xfrm>
        </p:spPr>
        <p:txBody>
          <a:bodyPr/>
          <a:lstStyle/>
          <a:p>
            <a:pPr>
              <a:defRPr/>
            </a:pPr>
            <a:r>
              <a:rPr lang="en-US" sz="1200" dirty="0">
                <a:latin typeface="Times New Roman" panose="02020603050405020304" pitchFamily="18" charset="0"/>
                <a:cs typeface="Times New Roman" panose="02020603050405020304" pitchFamily="18" charset="0"/>
              </a:rPr>
              <a:t>CGB1121 – PYTHON PROGRAMMING –PROJECT REVIEW 2</a:t>
            </a:r>
            <a:endParaRPr lang="en-US" sz="1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4CE540F1-D866-4735-9E65-A1952EADD02D}" type="slidenum">
              <a:rPr lang="en-US" altLang="en-US" smtClean="0"/>
            </a:fld>
            <a:endParaRPr lang="en-US" altLang="en-US" dirty="0"/>
          </a:p>
        </p:txBody>
      </p:sp>
      <p:sp>
        <p:nvSpPr>
          <p:cNvPr id="6" name="Title 1"/>
          <p:cNvSpPr txBox="1"/>
          <p:nvPr/>
        </p:nvSpPr>
        <p:spPr>
          <a:xfrm>
            <a:off x="0" y="2099871"/>
            <a:ext cx="9144000" cy="1664258"/>
          </a:xfrm>
          <a:prstGeom prst="rect">
            <a:avLst/>
          </a:prstGeom>
          <a:solidFill>
            <a:schemeClr val="accent3">
              <a:lumMod val="40000"/>
              <a:lumOff val="60000"/>
            </a:schemeClr>
          </a:solidFill>
        </p:spPr>
        <p:txBody>
          <a:bodyPr>
            <a:normAutofit/>
          </a:bodyPr>
          <a:lstStyle>
            <a:lvl1pPr algn="l" defTabSz="342900" rtl="0" eaLnBrk="1" latinLnBrk="0" hangingPunct="1">
              <a:spcBef>
                <a:spcPct val="0"/>
              </a:spcBef>
              <a:buNone/>
              <a:defRPr sz="21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defRPr/>
            </a:pPr>
            <a:endParaRPr lang="en-IN" sz="3600" dirty="0"/>
          </a:p>
          <a:p>
            <a:pPr algn="ctr">
              <a:defRPr/>
            </a:pPr>
            <a:r>
              <a:rPr lang="en-IN" sz="3600" b="1" dirty="0">
                <a:solidFill>
                  <a:schemeClr val="tx1"/>
                </a:solidFill>
                <a:latin typeface="Times New Roman" panose="02020603050405020304" pitchFamily="18" charset="0"/>
                <a:cs typeface="Times New Roman" panose="02020603050405020304" pitchFamily="18" charset="0"/>
              </a:rPr>
              <a:t>Any queries??? </a:t>
            </a:r>
            <a:endParaRPr lang="en-IN" sz="36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Equity</Template>
  <TotalTime>0</TotalTime>
  <Words>7321</Words>
  <Application>WPS Presentation</Application>
  <PresentationFormat>On-screen Show (16:9)</PresentationFormat>
  <Paragraphs>198</Paragraphs>
  <Slides>15</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15</vt:i4>
      </vt:variant>
    </vt:vector>
  </HeadingPairs>
  <TitlesOfParts>
    <vt:vector size="28" baseType="lpstr">
      <vt:lpstr>Arial</vt:lpstr>
      <vt:lpstr>SimSun</vt:lpstr>
      <vt:lpstr>Wingdings</vt:lpstr>
      <vt:lpstr>Wingdings 3</vt:lpstr>
      <vt:lpstr>Wingdings</vt:lpstr>
      <vt:lpstr>Calibri</vt:lpstr>
      <vt:lpstr>Times New Roman</vt:lpstr>
      <vt:lpstr>Times New Roman</vt:lpstr>
      <vt:lpstr>Gill Sans MT</vt:lpstr>
      <vt:lpstr>Microsoft YaHei</vt:lpstr>
      <vt:lpstr>Arial Unicode MS</vt:lpstr>
      <vt:lpstr>Bookman Old Style</vt:lpstr>
      <vt:lpstr>Origin</vt:lpstr>
      <vt:lpstr>CGB1121 – PYTHON PROGRAMMING END SEMESTER REVIEW</vt:lpstr>
      <vt:lpstr>Title of the Project</vt:lpstr>
      <vt:lpstr>Abstract </vt:lpstr>
      <vt:lpstr>Abstract with CO/PO Mapping</vt:lpstr>
      <vt:lpstr>Introduction</vt:lpstr>
      <vt:lpstr>Python Programming  - Concepts Used</vt:lpstr>
      <vt:lpstr>Proposed Architecture</vt:lpstr>
      <vt:lpstr>Proposed Architecture - Description</vt:lpstr>
      <vt:lpstr>List of Modules</vt:lpstr>
      <vt:lpstr>Description of Modules</vt:lpstr>
      <vt:lpstr>Results and Discussion</vt:lpstr>
      <vt:lpstr>Results and Discussion(Cont..)</vt:lpstr>
      <vt:lpstr>Results and Discussion(Cont..)</vt:lpstr>
      <vt:lpstr>Conclusion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karthika sivasubramaniyan</cp:lastModifiedBy>
  <cp:revision>8</cp:revision>
  <dcterms:created xsi:type="dcterms:W3CDTF">2026-04-21T06:44:00Z</dcterms:created>
  <dcterms:modified xsi:type="dcterms:W3CDTF">2026-06-26T08:49:42Z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A0E153126F3B4D09B4D834968DD4FDFE_13</vt:lpwstr>
  </property>
</Properties>
</file>